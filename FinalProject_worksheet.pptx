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presProps.xml" ContentType="application/vnd.openxmlformats-officedocument.presentationml.presProps+xml"/>
  <Override PartName="/ppt/slides/_rels/slide1.xml.rels" ContentType="application/vnd.openxmlformats-package.relationshi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EE567E2-AD41-4F25-A308-ABFA488B64FE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68040"/>
            <a:ext cx="822708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5B7F92B-DCEF-4C9B-8E61-1506A967E31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68040"/>
            <a:ext cx="822708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5D75292-5A1B-452F-BB65-81FE1A403B5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68040"/>
            <a:ext cx="822708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FBD5A6B-D26A-48DD-8576-404ACBD3A610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68040"/>
            <a:ext cx="822708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42A81F2-C9EF-4E75-8195-269B79C07BDD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68040"/>
            <a:ext cx="8227080" cy="2898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E5A8EDB-8FEA-4326-9ED1-EDA3BB42068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68040"/>
            <a:ext cx="822708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187C431-0B76-440B-8849-7FC963CB0EB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68040"/>
            <a:ext cx="822708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509C499-594D-4E6A-B3FB-9156DF3D91B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68040"/>
            <a:ext cx="822708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17DB14D-E5C6-4146-B8BC-7AEFC65C8C5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68040"/>
            <a:ext cx="822708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45EF0EB-1F80-44C3-9D59-F9B0CEF21F0E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68040"/>
            <a:ext cx="822708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4E95914-4B68-4D38-8458-C504AD2148F4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68040"/>
            <a:ext cx="822708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C300850-858F-4AEE-BF4E-08DB81960182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57200" y="68040"/>
            <a:ext cx="8227080" cy="6249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0" bIns="0" anchor="ctr">
            <a:noAutofit/>
          </a:bodyPr>
          <a:p>
            <a:r>
              <a:rPr b="0" lang="en-US" sz="1800" spc="-1" strike="noStrike">
                <a:latin typeface="Arial"/>
              </a:rPr>
              <a:t>Click to edit the title text format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ftr" idx="1"/>
          </p:nvPr>
        </p:nvSpPr>
        <p:spPr>
          <a:xfrm>
            <a:off x="3124080" y="6245280"/>
            <a:ext cx="2892960" cy="47376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0000" rIns="90000" tIns="45000" bIns="45000" anchor="t">
            <a:noAutofit/>
          </a:bodyPr>
          <a:lstStyle>
            <a:lvl1pPr algn="ctr">
              <a:lnSpc>
                <a:spcPct val="100000"/>
              </a:lnSpc>
              <a:buNone/>
              <a:defRPr b="0" lang="en-US" sz="1400" spc="-1" strike="noStrike">
                <a:latin typeface="Times New Roman"/>
              </a:defRPr>
            </a:lvl1pPr>
          </a:lstStyle>
          <a:p>
            <a:pPr algn="ctr">
              <a:lnSpc>
                <a:spcPct val="100000"/>
              </a:lnSpc>
              <a:buNone/>
            </a:pPr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sldNum" idx="2"/>
          </p:nvPr>
        </p:nvSpPr>
        <p:spPr>
          <a:xfrm>
            <a:off x="6553080" y="6245280"/>
            <a:ext cx="2131200" cy="47376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0000" rIns="90000" tIns="45000" bIns="45000" anchor="t">
            <a:noAutofit/>
          </a:bodyPr>
          <a:lstStyle>
            <a:lvl1pPr algn="r">
              <a:lnSpc>
                <a:spcPct val="100000"/>
              </a:lnSpc>
              <a:buNone/>
              <a:defRPr b="0" lang="en-US" sz="1400" spc="-1" strike="noStrike">
                <a:solidFill>
                  <a:srgbClr val="000000"/>
                </a:solidFill>
                <a:latin typeface="Calibri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560AD785-C97F-449C-BC1A-3E5728D83D0C}" type="slidenum">
              <a:rPr b="0" lang="en-US" sz="1400" spc="-1" strike="noStrike">
                <a:solidFill>
                  <a:srgbClr val="000000"/>
                </a:solidFill>
                <a:latin typeface="Calibri"/>
              </a:rPr>
              <a:t>&lt;number&gt;</a:t>
            </a:fld>
            <a:endParaRPr b="0" lang="en-US" sz="1400" spc="-1" strike="noStrike"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dt" idx="3"/>
          </p:nvPr>
        </p:nvSpPr>
        <p:spPr>
          <a:xfrm>
            <a:off x="457200" y="6245280"/>
            <a:ext cx="2131200" cy="47376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0000" rIns="90000" tIns="45000" bIns="45000" anchor="t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latin typeface="Arial"/>
              </a:rPr>
              <a:t>Click to edit the outline text format</a:t>
            </a:r>
            <a:endParaRPr b="0" lang="en-US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latin typeface="Arial"/>
              </a:rPr>
              <a:t>Second Outline Level</a:t>
            </a:r>
            <a:endParaRPr b="0" lang="en-US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latin typeface="Arial"/>
              </a:rPr>
              <a:t>Third Outline Level</a:t>
            </a:r>
            <a:endParaRPr b="0" lang="en-US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latin typeface="Arial"/>
              </a:rPr>
              <a:t>Fourth Outline Level</a:t>
            </a:r>
            <a:endParaRPr b="0" lang="en-US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Fifth Outline Level</a:t>
            </a:r>
            <a:endParaRPr b="0" lang="en-US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Sixth Outline Level</a:t>
            </a:r>
            <a:endParaRPr b="0" lang="en-US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Seventh Outline Level</a:t>
            </a:r>
            <a:endParaRPr b="0" lang="en-US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457200" y="152280"/>
            <a:ext cx="8227080" cy="454680"/>
          </a:xfrm>
          <a:prstGeom prst="rect">
            <a:avLst/>
          </a:prstGeom>
          <a:noFill/>
          <a:ln w="9360">
            <a:solidFill>
              <a:srgbClr val="000000"/>
            </a:solidFill>
            <a:miter/>
          </a:ln>
        </p:spPr>
        <p:txBody>
          <a:bodyPr numCol="1" spcCol="0"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000000"/>
                </a:solidFill>
                <a:latin typeface="Calibri"/>
              </a:rPr>
              <a:t>Project Team Members: Chris Bromley, Sam Fritz-Schreck, Austin McGahan, Ryan Shannon, Chris Smith</a:t>
            </a:r>
            <a:br>
              <a:rPr sz="1200"/>
            </a:br>
            <a:r>
              <a:rPr b="0" lang="en-US" sz="1200" spc="-1" strike="noStrike">
                <a:solidFill>
                  <a:srgbClr val="000000"/>
                </a:solidFill>
                <a:latin typeface="Calibri"/>
              </a:rPr>
              <a:t>Project Title (tentative): PCS Housing Dashboard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42" name="TextBox 4"/>
          <p:cNvSpPr/>
          <p:nvPr/>
        </p:nvSpPr>
        <p:spPr>
          <a:xfrm>
            <a:off x="740880" y="2108160"/>
            <a:ext cx="1577160" cy="3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000000"/>
                </a:solidFill>
                <a:latin typeface="Calibri"/>
                <a:ea typeface="DejaVu Sans"/>
              </a:rPr>
              <a:t>Data Curation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43" name="TextBox 5"/>
          <p:cNvSpPr/>
          <p:nvPr/>
        </p:nvSpPr>
        <p:spPr>
          <a:xfrm>
            <a:off x="3835080" y="2122560"/>
            <a:ext cx="1473480" cy="3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000000"/>
                </a:solidFill>
                <a:latin typeface="Calibri"/>
                <a:ea typeface="DejaVu Sans"/>
              </a:rPr>
              <a:t>Computation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44" name="TextBox 6"/>
          <p:cNvSpPr/>
          <p:nvPr/>
        </p:nvSpPr>
        <p:spPr>
          <a:xfrm>
            <a:off x="7293960" y="2122560"/>
            <a:ext cx="923400" cy="3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000000"/>
                </a:solidFill>
                <a:latin typeface="Calibri"/>
                <a:ea typeface="DejaVu Sans"/>
              </a:rPr>
              <a:t>Results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45" name="TextBox 7"/>
          <p:cNvSpPr/>
          <p:nvPr/>
        </p:nvSpPr>
        <p:spPr>
          <a:xfrm>
            <a:off x="3456720" y="625320"/>
            <a:ext cx="2230920" cy="3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000000"/>
                </a:solidFill>
                <a:latin typeface="Calibri"/>
                <a:ea typeface="DejaVu Sans"/>
              </a:rPr>
              <a:t>Problem Description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46" name="Right Arrow 11"/>
          <p:cNvSpPr/>
          <p:nvPr/>
        </p:nvSpPr>
        <p:spPr>
          <a:xfrm>
            <a:off x="2882160" y="3685680"/>
            <a:ext cx="458280" cy="11113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bbe0e3"/>
          </a:solidFill>
          <a:ln>
            <a:solidFill>
              <a:srgbClr val="8aa5a7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47" name="Right Arrow 12"/>
          <p:cNvSpPr/>
          <p:nvPr/>
        </p:nvSpPr>
        <p:spPr>
          <a:xfrm>
            <a:off x="5916240" y="3666240"/>
            <a:ext cx="458280" cy="11113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bbe0e3"/>
          </a:solidFill>
          <a:ln>
            <a:solidFill>
              <a:srgbClr val="8aa5a7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48" name="TextBox 14"/>
          <p:cNvSpPr/>
          <p:nvPr/>
        </p:nvSpPr>
        <p:spPr>
          <a:xfrm>
            <a:off x="403920" y="932760"/>
            <a:ext cx="8487360" cy="111132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8aa5a7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000" spc="-1" strike="noStrike">
                <a:solidFill>
                  <a:srgbClr val="000000"/>
                </a:solidFill>
                <a:latin typeface="Calibri"/>
                <a:ea typeface="DejaVu Sans"/>
              </a:rPr>
              <a:t> </a:t>
            </a:r>
            <a:r>
              <a:rPr b="0" lang="en-US" sz="1000" spc="-1" strike="noStrike">
                <a:solidFill>
                  <a:srgbClr val="000000"/>
                </a:solidFill>
                <a:latin typeface="Calibri"/>
                <a:ea typeface="DejaVu Sans"/>
              </a:rPr>
              <a:t>Decision support tool to assist with selecting potential housing areas of interest prior to PCS to a new duty station.</a:t>
            </a:r>
            <a:endParaRPr b="0" lang="en-US" sz="1000" spc="-1" strike="noStrike"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000" spc="-1" strike="noStrike">
                <a:solidFill>
                  <a:srgbClr val="000000"/>
                </a:solidFill>
                <a:latin typeface="Calibri"/>
                <a:ea typeface="DejaVu Sans"/>
              </a:rPr>
              <a:t> </a:t>
            </a:r>
            <a:r>
              <a:rPr b="0" lang="en-US" sz="1000" spc="-1" strike="noStrike">
                <a:solidFill>
                  <a:srgbClr val="000000"/>
                </a:solidFill>
                <a:latin typeface="Calibri"/>
                <a:ea typeface="DejaVu Sans"/>
              </a:rPr>
              <a:t>Every service member could leverage the dashboard following notification of PCS orders to narrow potential neighborhoods to search for listings.</a:t>
            </a:r>
            <a:endParaRPr b="0" lang="en-US" sz="1000" spc="-1" strike="noStrike"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000" spc="-1" strike="noStrike">
                <a:solidFill>
                  <a:srgbClr val="000000"/>
                </a:solidFill>
                <a:latin typeface="Calibri"/>
                <a:ea typeface="DejaVu Sans"/>
              </a:rPr>
              <a:t> </a:t>
            </a:r>
            <a:r>
              <a:rPr b="0" lang="en-US" sz="1000" spc="-1" strike="noStrike">
                <a:solidFill>
                  <a:srgbClr val="000000"/>
                </a:solidFill>
                <a:latin typeface="Calibri"/>
                <a:ea typeface="DejaVu Sans"/>
              </a:rPr>
              <a:t>Success would be generation of 3-4 potential neighborhood areas based on subjective weights of 5 different attributes input by the user.</a:t>
            </a:r>
            <a:endParaRPr b="0" lang="en-US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1000" spc="-1" strike="noStrike">
              <a:latin typeface="Arial"/>
            </a:endParaRPr>
          </a:p>
        </p:txBody>
      </p:sp>
      <p:sp>
        <p:nvSpPr>
          <p:cNvPr id="49" name="TextBox 15"/>
          <p:cNvSpPr/>
          <p:nvPr/>
        </p:nvSpPr>
        <p:spPr>
          <a:xfrm>
            <a:off x="403920" y="2430360"/>
            <a:ext cx="2399040" cy="33004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8aa5a7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000" spc="-1" strike="noStrike">
                <a:solidFill>
                  <a:srgbClr val="000000"/>
                </a:solidFill>
                <a:latin typeface="Calibri"/>
                <a:ea typeface="DejaVu Sans"/>
              </a:rPr>
              <a:t>Discrete map grid centered on duty location</a:t>
            </a:r>
            <a:endParaRPr b="0" lang="en-US" sz="1000" spc="-1" strike="noStrike"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endParaRPr b="0" lang="en-US" sz="1000" spc="-1" strike="noStrike"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000" spc="-1" strike="noStrike">
                <a:solidFill>
                  <a:srgbClr val="000000"/>
                </a:solidFill>
                <a:latin typeface="Calibri"/>
                <a:ea typeface="DejaVu Sans"/>
              </a:rPr>
              <a:t>Housing</a:t>
            </a:r>
            <a:endParaRPr b="0" lang="en-US" sz="1000" spc="-1" strike="noStrike"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000" spc="-1" strike="noStrike">
                <a:solidFill>
                  <a:srgbClr val="000000"/>
                </a:solidFill>
                <a:latin typeface="Calibri"/>
                <a:ea typeface="DejaVu Sans"/>
              </a:rPr>
              <a:t>2023 BAH rates</a:t>
            </a:r>
            <a:endParaRPr b="0" lang="en-US" sz="1000" spc="-1" strike="noStrike"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000" spc="-1" strike="noStrike">
                <a:solidFill>
                  <a:srgbClr val="000000"/>
                </a:solidFill>
                <a:latin typeface="Calibri"/>
                <a:ea typeface="DejaVu Sans"/>
              </a:rPr>
              <a:t>HUD Fair market rent (FMR)</a:t>
            </a:r>
            <a:endParaRPr b="0" lang="en-US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1000" spc="-1" strike="noStrike"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000" spc="-1" strike="noStrike">
                <a:solidFill>
                  <a:srgbClr val="000000"/>
                </a:solidFill>
                <a:latin typeface="Calibri"/>
                <a:ea typeface="DejaVu Sans"/>
              </a:rPr>
              <a:t>Commute</a:t>
            </a:r>
            <a:endParaRPr b="0" lang="en-US" sz="1000" spc="-1" strike="noStrike"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000" spc="-1" strike="noStrike">
                <a:solidFill>
                  <a:srgbClr val="000000"/>
                </a:solidFill>
                <a:latin typeface="Calibri"/>
                <a:ea typeface="DejaVu Sans"/>
              </a:rPr>
              <a:t>Walkability</a:t>
            </a:r>
            <a:endParaRPr b="0" lang="en-US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1000" spc="-1" strike="noStrike"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000" spc="-1" strike="noStrike">
                <a:solidFill>
                  <a:srgbClr val="000000"/>
                </a:solidFill>
                <a:latin typeface="Calibri"/>
                <a:ea typeface="DejaVu Sans"/>
              </a:rPr>
              <a:t>Schools</a:t>
            </a:r>
            <a:endParaRPr b="0" lang="en-US" sz="1000" spc="-1" strike="noStrike"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000" spc="-1" strike="noStrike">
                <a:solidFill>
                  <a:srgbClr val="000000"/>
                </a:solidFill>
                <a:latin typeface="Calibri"/>
                <a:ea typeface="DejaVu Sans"/>
              </a:rPr>
              <a:t>Great Schools API</a:t>
            </a:r>
            <a:endParaRPr b="0" lang="en-US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1000" spc="-1" strike="noStrike"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000" spc="-1" strike="noStrike">
                <a:solidFill>
                  <a:srgbClr val="000000"/>
                </a:solidFill>
                <a:latin typeface="Calibri"/>
                <a:ea typeface="DejaVu Sans"/>
              </a:rPr>
              <a:t>Crime</a:t>
            </a:r>
            <a:endParaRPr b="0" lang="en-US" sz="1000" spc="-1" strike="noStrike"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000" spc="-1" strike="noStrike">
                <a:solidFill>
                  <a:srgbClr val="000000"/>
                </a:solidFill>
                <a:latin typeface="Calibri"/>
                <a:ea typeface="DejaVu Sans"/>
              </a:rPr>
              <a:t>FBI data center</a:t>
            </a:r>
            <a:endParaRPr b="0" lang="en-US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1000" spc="-1" strike="noStrike"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000" spc="-1" strike="noStrike">
                <a:solidFill>
                  <a:srgbClr val="000000"/>
                </a:solidFill>
                <a:latin typeface="Calibri"/>
                <a:ea typeface="DejaVu Sans"/>
              </a:rPr>
              <a:t>Recreation</a:t>
            </a:r>
            <a:endParaRPr b="0" lang="en-US" sz="1000" spc="-1" strike="noStrike"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000" spc="-1" strike="noStrike">
                <a:solidFill>
                  <a:srgbClr val="000000"/>
                </a:solidFill>
                <a:latin typeface="Calibri"/>
                <a:ea typeface="DejaVu Sans"/>
              </a:rPr>
              <a:t>BreweryDB</a:t>
            </a:r>
            <a:endParaRPr b="0" lang="en-US" sz="1000" spc="-1" strike="noStrike"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000" spc="-1" strike="noStrike">
                <a:solidFill>
                  <a:srgbClr val="000000"/>
                </a:solidFill>
                <a:latin typeface="Calibri"/>
                <a:ea typeface="DejaVu Sans"/>
              </a:rPr>
              <a:t>openstreetmap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50" name="TextBox 16"/>
          <p:cNvSpPr/>
          <p:nvPr/>
        </p:nvSpPr>
        <p:spPr>
          <a:xfrm>
            <a:off x="3346920" y="2430360"/>
            <a:ext cx="2563560" cy="33004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8aa5a7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Calculate attribute scores for each grid square</a:t>
            </a:r>
            <a:endParaRPr b="0" lang="en-US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1000" spc="-1" strike="noStrike"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000" spc="-1" strike="noStrike">
                <a:solidFill>
                  <a:srgbClr val="000000"/>
                </a:solidFill>
                <a:latin typeface="Calibri"/>
                <a:ea typeface="DejaVu Sans"/>
              </a:rPr>
              <a:t>Inputs: Rank, dependents, duty zip</a:t>
            </a:r>
            <a:endParaRPr b="0" lang="en-US" sz="1000" spc="-1" strike="noStrike"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000" spc="-1" strike="noStrike">
                <a:solidFill>
                  <a:srgbClr val="000000"/>
                </a:solidFill>
                <a:latin typeface="Calibri"/>
                <a:ea typeface="DejaVu Sans"/>
              </a:rPr>
              <a:t>Compare BAH rate to FMR/utilities</a:t>
            </a:r>
            <a:endParaRPr b="0" lang="en-US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1000" spc="-1" strike="noStrike"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000" spc="-1" strike="noStrike">
                <a:solidFill>
                  <a:srgbClr val="000000"/>
                </a:solidFill>
                <a:latin typeface="Calibri"/>
                <a:ea typeface="DejaVu Sans"/>
              </a:rPr>
              <a:t>Generate walkability score for each block group</a:t>
            </a:r>
            <a:endParaRPr b="0" lang="en-US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1000" spc="-1" strike="noStrike"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000" spc="-1" strike="noStrike">
                <a:solidFill>
                  <a:srgbClr val="000000"/>
                </a:solidFill>
                <a:latin typeface="Calibri"/>
                <a:ea typeface="DejaVu Sans"/>
              </a:rPr>
              <a:t>Generate weighted sum of school ratings by a factor of distance</a:t>
            </a:r>
            <a:endParaRPr b="0" lang="en-US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1000" spc="-1" strike="noStrike"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000" spc="-1" strike="noStrike">
                <a:solidFill>
                  <a:srgbClr val="000000"/>
                </a:solidFill>
                <a:latin typeface="Calibri"/>
                <a:ea typeface="DejaVu Sans"/>
              </a:rPr>
              <a:t>Reference zip code’s crime grade</a:t>
            </a:r>
            <a:endParaRPr b="0" lang="en-US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1000" spc="-1" strike="noStrike"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000" spc="-1" strike="noStrike">
                <a:solidFill>
                  <a:srgbClr val="000000"/>
                </a:solidFill>
                <a:latin typeface="Calibri"/>
                <a:ea typeface="DejaVu Sans"/>
              </a:rPr>
              <a:t>Number of breweries within x distance</a:t>
            </a:r>
            <a:endParaRPr b="0" lang="en-US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1000" spc="-1" strike="noStrike"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000" spc="-1" strike="noStrike">
                <a:solidFill>
                  <a:srgbClr val="000000"/>
                </a:solidFill>
                <a:latin typeface="Calibri"/>
                <a:ea typeface="DejaVu Sans"/>
              </a:rPr>
              <a:t>Coordination/collaboration conducted via GitHub repository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51" name="TextBox 17"/>
          <p:cNvSpPr/>
          <p:nvPr/>
        </p:nvSpPr>
        <p:spPr>
          <a:xfrm>
            <a:off x="6492240" y="2421720"/>
            <a:ext cx="2399040" cy="33004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8aa5a7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000" spc="-1" strike="noStrike">
                <a:solidFill>
                  <a:srgbClr val="000000"/>
                </a:solidFill>
                <a:latin typeface="Calibri"/>
                <a:ea typeface="DejaVu Sans"/>
              </a:rPr>
              <a:t> </a:t>
            </a:r>
            <a:r>
              <a:rPr b="0" lang="en-US" sz="1000" spc="-1" strike="noStrike">
                <a:solidFill>
                  <a:srgbClr val="000000"/>
                </a:solidFill>
                <a:latin typeface="Calibri"/>
                <a:ea typeface="DejaVu Sans"/>
              </a:rPr>
              <a:t>Presented on a dashboard with user inputs, map and top 5-10 locations to search for a potential house</a:t>
            </a:r>
            <a:endParaRPr b="0" lang="en-US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1000" spc="-1" strike="noStrike"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000" spc="-1" strike="noStrike">
                <a:solidFill>
                  <a:srgbClr val="000000"/>
                </a:solidFill>
                <a:latin typeface="Calibri"/>
                <a:ea typeface="DejaVu Sans"/>
              </a:rPr>
              <a:t> </a:t>
            </a:r>
            <a:r>
              <a:rPr b="0" lang="en-US" sz="1000" spc="-1" strike="noStrike">
                <a:solidFill>
                  <a:srgbClr val="000000"/>
                </a:solidFill>
                <a:latin typeface="Calibri"/>
                <a:ea typeface="DejaVu Sans"/>
              </a:rPr>
              <a:t>Top locations will include pop-ups with all individual scores and weighted total</a:t>
            </a:r>
            <a:endParaRPr b="0" lang="en-US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1000" spc="-1" strike="noStrike"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000" spc="-1" strike="noStrike">
                <a:solidFill>
                  <a:srgbClr val="000000"/>
                </a:solidFill>
                <a:latin typeface="Calibri"/>
                <a:ea typeface="DejaVu Sans"/>
              </a:rPr>
              <a:t> </a:t>
            </a:r>
            <a:r>
              <a:rPr b="0" lang="en-US" sz="1000" spc="-1" strike="noStrike">
                <a:solidFill>
                  <a:srgbClr val="000000"/>
                </a:solidFill>
                <a:latin typeface="Calibri"/>
                <a:ea typeface="DejaVu Sans"/>
              </a:rPr>
              <a:t>Possible: Be able to click on map to add a point and see metrics</a:t>
            </a:r>
            <a:endParaRPr b="0" lang="en-US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1000" spc="-1" strike="noStrike"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000" spc="-1" strike="noStrike">
                <a:solidFill>
                  <a:srgbClr val="000000"/>
                </a:solidFill>
                <a:latin typeface="Calibri"/>
                <a:ea typeface="DejaVu Sans"/>
              </a:rPr>
              <a:t>Possible: Leverage housing api to pull listings for top grids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52" name="TextBox 18"/>
          <p:cNvSpPr/>
          <p:nvPr/>
        </p:nvSpPr>
        <p:spPr>
          <a:xfrm>
            <a:off x="193680" y="6051960"/>
            <a:ext cx="8793360" cy="62352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8aa5a7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i="1" lang="en-US" sz="1100" spc="-1" strike="noStrike">
                <a:solidFill>
                  <a:srgbClr val="000000"/>
                </a:solidFill>
                <a:latin typeface="Calibri"/>
                <a:ea typeface="DejaVu Sans"/>
              </a:rPr>
              <a:t>In what area(s) will you explore something new, along (at least) one of these three elements? Git version control, openstreetmap package, deeper understanding of panels/folium</a:t>
            </a:r>
            <a:endParaRPr b="0" lang="en-US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11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2078</TotalTime>
  <Application>LibreOffice/7.3.7.2$Linux_X86_64 LibreOffice_project/30$Build-2</Application>
  <AppVersion>15.0000</AppVersion>
  <Words>54</Words>
  <Paragraphs>18</Paragraphs>
  <Company>Naval Postgraduate School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2008-01-04T17:52:10Z</dcterms:created>
  <dc:creator>dlalders</dc:creator>
  <dc:description/>
  <dc:language>en-US</dc:language>
  <cp:lastModifiedBy/>
  <dcterms:modified xsi:type="dcterms:W3CDTF">2023-02-15T13:00:05Z</dcterms:modified>
  <cp:revision>191</cp:revision>
  <dc:subject/>
  <dc:title>Numerical Representation of Data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  <property fmtid="{D5CDD505-2E9C-101B-9397-08002B2CF9AE}" pid="3" name="Slides">
    <vt:i4>1</vt:i4>
  </property>
</Properties>
</file>