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13"/>
  </p:notesMasterIdLst>
  <p:sldIdLst>
    <p:sldId id="285" r:id="rId2"/>
    <p:sldId id="289" r:id="rId3"/>
    <p:sldId id="298" r:id="rId4"/>
    <p:sldId id="302" r:id="rId5"/>
    <p:sldId id="294" r:id="rId6"/>
    <p:sldId id="295" r:id="rId7"/>
    <p:sldId id="290" r:id="rId8"/>
    <p:sldId id="296" r:id="rId9"/>
    <p:sldId id="292" r:id="rId10"/>
    <p:sldId id="299" r:id="rId11"/>
    <p:sldId id="300"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D78"/>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29390F-C289-4E94-8CC3-F9DC3F72B771}" v="43" dt="2023-03-02T06:24:01.907"/>
    <p1510:client id="{2F553690-1695-4675-97A2-273849D033DA}" v="121" dt="2023-03-06T16:56:21.357"/>
    <p1510:client id="{44408E2E-1C1C-4EE3-B937-09ADC815576A}" v="246" dt="2023-03-06T04:12:31.351"/>
    <p1510:client id="{50274593-813C-4880-9583-172D87B5FC14}" v="133" dt="2023-03-07T21:50:28.574"/>
    <p1510:client id="{510C0A81-02A8-4519-9D20-BC2926183C5E}" v="26" dt="2023-03-08T19:18:59.929"/>
    <p1510:client id="{609AE494-302C-4807-A40B-55370F0F797D}" v="206" dt="2023-03-02T06:33:13.897"/>
    <p1510:client id="{66EFBC40-8F42-4692-9B8A-0A244B9E5E04}" v="135" dt="2023-03-02T22:44:40.414"/>
    <p1510:client id="{69C9B135-42AB-4C38-8D03-92B75EC4285E}" v="27" dt="2023-03-08T20:30:54.766"/>
    <p1510:client id="{73CED8AB-CC16-44FD-A126-3151EA272528}" v="1" dt="2023-03-02T22:49:33.792"/>
    <p1510:client id="{78757336-79FB-4A91-9371-E0B24778D661}" v="51" dt="2023-03-07T20:16:19.098"/>
    <p1510:client id="{7E84D6E9-3313-483D-8583-8A12A17D7B99}" v="83" dt="2023-03-07T20:47:56.679"/>
    <p1510:client id="{845A8CDA-D7A8-46EA-A719-72715330CB8F}" v="31" dt="2023-03-05T23:31:51.601"/>
    <p1510:client id="{88A25334-79A0-46F0-A84F-1AA3675E3882}" v="14" dt="2023-03-08T20:44:10.934"/>
    <p1510:client id="{88E657C9-6F61-4827-82FC-F34F7AD727F1}" v="750" dt="2023-03-06T17:50:08.387"/>
    <p1510:client id="{9FC3F45E-9771-4EFC-9083-09D221FA8AF5}" v="666" dt="2023-03-05T23:56:12.028"/>
    <p1510:client id="{A0274F2C-D49C-49F1-9074-92D2BE955EC4}" v="45" dt="2023-03-08T15:08:35.525"/>
    <p1510:client id="{A8761A8A-8BA2-4BBB-92EE-6DFE11430A9B}" v="14" dt="2023-03-08T20:24:32.418"/>
    <p1510:client id="{B483B630-511D-4D31-8CE2-AB393C62187E}" v="234" dt="2023-03-07T19:42:00.370"/>
    <p1510:client id="{D59B33DF-CAF1-4E89-838B-31F32E84ADFE}" v="58" dt="2023-03-07T03:38:55.630"/>
    <p1510:client id="{DE583DF3-F150-408D-978C-50DE83A9F73E}" v="39" dt="2023-03-07T00:32:01.561"/>
    <p1510:client id="{E4FF46BA-FEF5-479E-86C8-2910EBEE8CA7}" v="202" dt="2023-03-08T05:17:40.465"/>
    <p1510:client id="{FA9E32D7-1D32-4F24-82A0-3B6E7C1B7213}" v="317" dt="2023-03-07T00:29:32.5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47" autoAdjust="0"/>
    <p:restoredTop sz="89653" autoAdjust="0"/>
  </p:normalViewPr>
  <p:slideViewPr>
    <p:cSldViewPr>
      <p:cViewPr varScale="1">
        <p:scale>
          <a:sx n="131" d="100"/>
          <a:sy n="131" d="100"/>
        </p:scale>
        <p:origin x="212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4C4F20-7061-4860-BD44-DD0F46FCC2A8}" type="doc">
      <dgm:prSet loTypeId="urn:microsoft.com/office/officeart/2005/8/layout/hProcess7" loCatId="process" qsTypeId="urn:microsoft.com/office/officeart/2005/8/quickstyle/simple1" qsCatId="simple" csTypeId="urn:microsoft.com/office/officeart/2005/8/colors/accent2_3" csCatId="accent2" phldr="1"/>
      <dgm:spPr/>
      <dgm:t>
        <a:bodyPr/>
        <a:lstStyle/>
        <a:p>
          <a:endParaRPr lang="en-US"/>
        </a:p>
      </dgm:t>
    </dgm:pt>
    <dgm:pt modelId="{18748992-135D-4307-BDAF-DC1E2D5997A6}">
      <dgm:prSet phldrT="[Text]" phldr="0"/>
      <dgm:spPr/>
      <dgm:t>
        <a:bodyPr/>
        <a:lstStyle/>
        <a:p>
          <a:pPr rtl="0"/>
          <a:r>
            <a:rPr lang="en-US" dirty="0">
              <a:latin typeface="Arial"/>
            </a:rPr>
            <a:t>Data Curation</a:t>
          </a:r>
          <a:endParaRPr lang="en-US" dirty="0"/>
        </a:p>
      </dgm:t>
    </dgm:pt>
    <dgm:pt modelId="{E97AECFE-9EB1-48AE-86C4-017A323DC692}" type="parTrans" cxnId="{3DDAFF6E-CB9C-4CDE-88EE-773B7522D247}">
      <dgm:prSet/>
      <dgm:spPr/>
      <dgm:t>
        <a:bodyPr/>
        <a:lstStyle/>
        <a:p>
          <a:endParaRPr lang="en-US"/>
        </a:p>
      </dgm:t>
    </dgm:pt>
    <dgm:pt modelId="{C4C6E7A3-E750-4107-A2E8-F6E9BC5D6958}" type="sibTrans" cxnId="{3DDAFF6E-CB9C-4CDE-88EE-773B7522D247}">
      <dgm:prSet/>
      <dgm:spPr/>
      <dgm:t>
        <a:bodyPr/>
        <a:lstStyle/>
        <a:p>
          <a:endParaRPr lang="en-US"/>
        </a:p>
      </dgm:t>
    </dgm:pt>
    <dgm:pt modelId="{D01A2734-36F5-4B4E-BEED-2ACCD6757EBB}">
      <dgm:prSet phldrT="[Text]" phldr="0"/>
      <dgm:spPr/>
      <dgm:t>
        <a:bodyPr/>
        <a:lstStyle/>
        <a:p>
          <a:r>
            <a:rPr lang="en-US" dirty="0">
              <a:latin typeface="Arial"/>
            </a:rPr>
            <a:t>-26 files from 8 sources</a:t>
          </a:r>
          <a:endParaRPr lang="en-US" dirty="0"/>
        </a:p>
      </dgm:t>
    </dgm:pt>
    <dgm:pt modelId="{FF7E0FD8-9828-4D30-A6C1-CD5C970BD68F}" type="parTrans" cxnId="{C815FDED-6623-4E55-8AA0-8553DA9C9499}">
      <dgm:prSet/>
      <dgm:spPr/>
      <dgm:t>
        <a:bodyPr/>
        <a:lstStyle/>
        <a:p>
          <a:endParaRPr lang="en-US"/>
        </a:p>
      </dgm:t>
    </dgm:pt>
    <dgm:pt modelId="{7690F937-90B3-469A-9E85-C4F66F11D163}" type="sibTrans" cxnId="{C815FDED-6623-4E55-8AA0-8553DA9C9499}">
      <dgm:prSet/>
      <dgm:spPr/>
      <dgm:t>
        <a:bodyPr/>
        <a:lstStyle/>
        <a:p>
          <a:endParaRPr lang="en-US"/>
        </a:p>
      </dgm:t>
    </dgm:pt>
    <dgm:pt modelId="{D1ECC2D1-CA58-492D-8CFF-DAA6682C7D72}">
      <dgm:prSet phldrT="[Text]" phldr="0"/>
      <dgm:spPr/>
      <dgm:t>
        <a:bodyPr/>
        <a:lstStyle/>
        <a:p>
          <a:r>
            <a:rPr lang="en-US" dirty="0">
              <a:latin typeface="Arial"/>
            </a:rPr>
            <a:t>Computation</a:t>
          </a:r>
          <a:endParaRPr lang="en-US" dirty="0"/>
        </a:p>
      </dgm:t>
    </dgm:pt>
    <dgm:pt modelId="{1481C9B9-9C9A-4FB9-851B-8DDB3E2BFB26}" type="parTrans" cxnId="{9ACA83B3-8D3A-475A-A1A7-8EC2D2D013A1}">
      <dgm:prSet/>
      <dgm:spPr/>
      <dgm:t>
        <a:bodyPr/>
        <a:lstStyle/>
        <a:p>
          <a:endParaRPr lang="en-US"/>
        </a:p>
      </dgm:t>
    </dgm:pt>
    <dgm:pt modelId="{0815F717-D831-4632-8757-1743BFF57607}" type="sibTrans" cxnId="{9ACA83B3-8D3A-475A-A1A7-8EC2D2D013A1}">
      <dgm:prSet/>
      <dgm:spPr/>
      <dgm:t>
        <a:bodyPr/>
        <a:lstStyle/>
        <a:p>
          <a:endParaRPr lang="en-US"/>
        </a:p>
      </dgm:t>
    </dgm:pt>
    <dgm:pt modelId="{557B863C-26E7-4D0F-AA76-73D4AB0B5ADD}">
      <dgm:prSet phldrT="[Text]" phldr="0"/>
      <dgm:spPr/>
      <dgm:t>
        <a:bodyPr/>
        <a:lstStyle/>
        <a:p>
          <a:r>
            <a:rPr lang="en-US" dirty="0">
              <a:latin typeface="Arial"/>
            </a:rPr>
            <a:t>-Normalization of the metrics </a:t>
          </a:r>
          <a:endParaRPr lang="en-US" dirty="0"/>
        </a:p>
      </dgm:t>
    </dgm:pt>
    <dgm:pt modelId="{1A569C06-435B-4984-8897-2F02AA2FD46C}" type="parTrans" cxnId="{030AC873-1645-43F9-A669-7386B66B37EF}">
      <dgm:prSet/>
      <dgm:spPr/>
      <dgm:t>
        <a:bodyPr/>
        <a:lstStyle/>
        <a:p>
          <a:endParaRPr lang="en-US"/>
        </a:p>
      </dgm:t>
    </dgm:pt>
    <dgm:pt modelId="{DA81D3CE-9BAF-40D6-958B-5E5E5E4F5317}" type="sibTrans" cxnId="{030AC873-1645-43F9-A669-7386B66B37EF}">
      <dgm:prSet/>
      <dgm:spPr/>
      <dgm:t>
        <a:bodyPr/>
        <a:lstStyle/>
        <a:p>
          <a:endParaRPr lang="en-US"/>
        </a:p>
      </dgm:t>
    </dgm:pt>
    <dgm:pt modelId="{04B225E2-06B4-41A0-BB58-F33A3F8166E5}">
      <dgm:prSet phldrT="[Text]" phldr="0"/>
      <dgm:spPr/>
      <dgm:t>
        <a:bodyPr/>
        <a:lstStyle/>
        <a:p>
          <a:r>
            <a:rPr lang="en-US" dirty="0">
              <a:latin typeface="Arial"/>
            </a:rPr>
            <a:t>Visualization</a:t>
          </a:r>
          <a:endParaRPr lang="en-US" dirty="0"/>
        </a:p>
      </dgm:t>
    </dgm:pt>
    <dgm:pt modelId="{242D1F0B-CC71-40C6-B1DF-B35CDC8DDC5E}" type="parTrans" cxnId="{C11E1D45-F3CD-4292-A5A4-0FD6EBF7F17E}">
      <dgm:prSet/>
      <dgm:spPr/>
      <dgm:t>
        <a:bodyPr/>
        <a:lstStyle/>
        <a:p>
          <a:endParaRPr lang="en-US"/>
        </a:p>
      </dgm:t>
    </dgm:pt>
    <dgm:pt modelId="{A7DBE105-3A54-45B1-81B8-F630B4CEFFDC}" type="sibTrans" cxnId="{C11E1D45-F3CD-4292-A5A4-0FD6EBF7F17E}">
      <dgm:prSet/>
      <dgm:spPr/>
      <dgm:t>
        <a:bodyPr/>
        <a:lstStyle/>
        <a:p>
          <a:endParaRPr lang="en-US"/>
        </a:p>
      </dgm:t>
    </dgm:pt>
    <dgm:pt modelId="{67D59100-AEBA-4D70-AFEC-9A8B803B0399}">
      <dgm:prSet phldrT="[Text]" phldr="0"/>
      <dgm:spPr/>
      <dgm:t>
        <a:bodyPr/>
        <a:lstStyle/>
        <a:p>
          <a:r>
            <a:rPr lang="en-US" dirty="0">
              <a:latin typeface="Arial"/>
            </a:rPr>
            <a:t>-Param package leveraged to handle inputs and user preferences</a:t>
          </a:r>
          <a:endParaRPr lang="en-US" dirty="0"/>
        </a:p>
      </dgm:t>
    </dgm:pt>
    <dgm:pt modelId="{B08032EA-2D0D-4955-BBA0-6B26677FBA0E}" type="parTrans" cxnId="{9C322A30-DF2E-4400-BB55-F66A9CCA8409}">
      <dgm:prSet/>
      <dgm:spPr/>
      <dgm:t>
        <a:bodyPr/>
        <a:lstStyle/>
        <a:p>
          <a:endParaRPr lang="en-US"/>
        </a:p>
      </dgm:t>
    </dgm:pt>
    <dgm:pt modelId="{357B1C44-3A52-4014-8B43-64D083192637}" type="sibTrans" cxnId="{9C322A30-DF2E-4400-BB55-F66A9CCA8409}">
      <dgm:prSet/>
      <dgm:spPr/>
      <dgm:t>
        <a:bodyPr/>
        <a:lstStyle/>
        <a:p>
          <a:endParaRPr lang="en-US"/>
        </a:p>
      </dgm:t>
    </dgm:pt>
    <dgm:pt modelId="{1637574C-5F40-460E-A63C-8320F70D9736}">
      <dgm:prSet phldr="0"/>
      <dgm:spPr/>
      <dgm:t>
        <a:bodyPr/>
        <a:lstStyle/>
        <a:p>
          <a:pPr rtl="0"/>
          <a:r>
            <a:rPr lang="en-US" dirty="0">
              <a:latin typeface="Arial"/>
            </a:rPr>
            <a:t>-Merged data into </a:t>
          </a:r>
          <a:r>
            <a:rPr lang="en-US" dirty="0" err="1">
              <a:latin typeface="Arial"/>
            </a:rPr>
            <a:t>geodataframes</a:t>
          </a:r>
          <a:r>
            <a:rPr lang="en-US" dirty="0">
              <a:latin typeface="Arial"/>
            </a:rPr>
            <a:t> built off census mapping files via GeoPandas spatial join</a:t>
          </a:r>
        </a:p>
      </dgm:t>
    </dgm:pt>
    <dgm:pt modelId="{F0B9E0F6-278C-4DB8-B855-7BDBC60B3619}" type="parTrans" cxnId="{4444A5D4-55A8-4721-BDCC-20B87D43A490}">
      <dgm:prSet/>
      <dgm:spPr/>
    </dgm:pt>
    <dgm:pt modelId="{B9376F28-5BF6-49BA-847E-FAAA302024ED}" type="sibTrans" cxnId="{4444A5D4-55A8-4721-BDCC-20B87D43A490}">
      <dgm:prSet/>
      <dgm:spPr/>
    </dgm:pt>
    <dgm:pt modelId="{2BE940BF-8143-4472-BF30-CAF77F694AD0}">
      <dgm:prSet phldr="0"/>
      <dgm:spPr/>
      <dgm:t>
        <a:bodyPr/>
        <a:lstStyle/>
        <a:p>
          <a:pPr rtl="0"/>
          <a:r>
            <a:rPr lang="en-US" dirty="0">
              <a:latin typeface="Arial"/>
            </a:rPr>
            <a:t>-Overall score computed via  user preferences</a:t>
          </a:r>
        </a:p>
      </dgm:t>
    </dgm:pt>
    <dgm:pt modelId="{832A1DA0-F641-4E73-BA8A-7B509962967A}" type="parTrans" cxnId="{DB061743-A466-4650-A0E3-C5698A9A0F84}">
      <dgm:prSet/>
      <dgm:spPr/>
    </dgm:pt>
    <dgm:pt modelId="{439EE98D-B4F4-4626-BAD6-A8C8A60A3EF2}" type="sibTrans" cxnId="{DB061743-A466-4650-A0E3-C5698A9A0F84}">
      <dgm:prSet/>
      <dgm:spPr/>
    </dgm:pt>
    <dgm:pt modelId="{5D757253-C733-4D99-AEA1-1B70BAE4EA63}">
      <dgm:prSet phldr="0"/>
      <dgm:spPr/>
      <dgm:t>
        <a:bodyPr/>
        <a:lstStyle/>
        <a:p>
          <a:r>
            <a:rPr lang="en-US" dirty="0">
              <a:latin typeface="Arial"/>
            </a:rPr>
            <a:t>-Dynamically refresh Folium map based on user inputs</a:t>
          </a:r>
          <a:endParaRPr lang="en-US" dirty="0"/>
        </a:p>
      </dgm:t>
    </dgm:pt>
    <dgm:pt modelId="{8DDD80C1-A574-4E2B-BAF5-B34AED68955B}" type="parTrans" cxnId="{137B8015-2DA0-4DA8-8E11-53DDC5BF6C67}">
      <dgm:prSet/>
      <dgm:spPr/>
    </dgm:pt>
    <dgm:pt modelId="{8C298EDF-BA2E-4F64-A3B1-4AE6481153B9}" type="sibTrans" cxnId="{137B8015-2DA0-4DA8-8E11-53DDC5BF6C67}">
      <dgm:prSet/>
      <dgm:spPr/>
    </dgm:pt>
    <dgm:pt modelId="{82D7C0EA-3AAF-4C91-91E3-1B809E414354}">
      <dgm:prSet phldr="0"/>
      <dgm:spPr/>
      <dgm:t>
        <a:bodyPr/>
        <a:lstStyle/>
        <a:p>
          <a:endParaRPr lang="en-US" dirty="0">
            <a:latin typeface="Arial"/>
          </a:endParaRPr>
        </a:p>
      </dgm:t>
    </dgm:pt>
    <dgm:pt modelId="{B486835F-012E-4613-8E37-EF72C2D6EACA}" type="parTrans" cxnId="{DE7B3BB6-5ACA-4CC5-B728-A6A9E53C7A33}">
      <dgm:prSet/>
      <dgm:spPr/>
    </dgm:pt>
    <dgm:pt modelId="{071E24F5-3592-4506-9BCE-B159DC7D2C25}" type="sibTrans" cxnId="{DE7B3BB6-5ACA-4CC5-B728-A6A9E53C7A33}">
      <dgm:prSet/>
      <dgm:spPr/>
    </dgm:pt>
    <dgm:pt modelId="{28189ACA-DDCB-4557-9F70-DA79AAE65B76}">
      <dgm:prSet phldr="0"/>
      <dgm:spPr/>
      <dgm:t>
        <a:bodyPr/>
        <a:lstStyle/>
        <a:p>
          <a:endParaRPr lang="en-US" dirty="0">
            <a:latin typeface="Arial"/>
          </a:endParaRPr>
        </a:p>
      </dgm:t>
    </dgm:pt>
    <dgm:pt modelId="{03B7513D-385E-477A-A0CA-7F0822FE5833}" type="parTrans" cxnId="{F3093EC5-B889-48AB-B657-9689FD86D327}">
      <dgm:prSet/>
      <dgm:spPr/>
    </dgm:pt>
    <dgm:pt modelId="{D9F33FF4-3CBB-408E-99CB-8ECDFC3F8452}" type="sibTrans" cxnId="{F3093EC5-B889-48AB-B657-9689FD86D327}">
      <dgm:prSet/>
      <dgm:spPr/>
    </dgm:pt>
    <dgm:pt modelId="{10BC66C4-F399-4EC8-BDDF-6E6F0427E121}">
      <dgm:prSet phldr="0"/>
      <dgm:spPr/>
      <dgm:t>
        <a:bodyPr/>
        <a:lstStyle/>
        <a:p>
          <a:pPr rtl="0"/>
          <a:r>
            <a:rPr lang="en-US" dirty="0">
              <a:latin typeface="Arial"/>
            </a:rPr>
            <a:t>-Missing data input to defined average </a:t>
          </a:r>
        </a:p>
      </dgm:t>
    </dgm:pt>
    <dgm:pt modelId="{39C66B93-DE5E-4548-8499-5CA2AC88ECE5}" type="parTrans" cxnId="{93596A6B-E005-48ED-8CAB-7D342EE8B827}">
      <dgm:prSet/>
      <dgm:spPr/>
    </dgm:pt>
    <dgm:pt modelId="{C7ED1B97-A4D5-4A36-BC1C-1087351F71B3}" type="sibTrans" cxnId="{93596A6B-E005-48ED-8CAB-7D342EE8B827}">
      <dgm:prSet/>
      <dgm:spPr/>
    </dgm:pt>
    <dgm:pt modelId="{E2FD0498-E7EF-40F1-A105-FF6C43BE691D}">
      <dgm:prSet phldr="0"/>
      <dgm:spPr/>
      <dgm:t>
        <a:bodyPr/>
        <a:lstStyle/>
        <a:p>
          <a:pPr rtl="0"/>
          <a:r>
            <a:rPr lang="en-US" dirty="0">
              <a:latin typeface="Arial"/>
            </a:rPr>
            <a:t>-Centroid of each census block geography used as input locations for search</a:t>
          </a:r>
        </a:p>
      </dgm:t>
    </dgm:pt>
    <dgm:pt modelId="{98B602D9-29C3-4183-BE55-B5DA8E145890}" type="parTrans" cxnId="{CD8F23D7-C868-4409-A371-DB6F0CF44C83}">
      <dgm:prSet/>
      <dgm:spPr/>
    </dgm:pt>
    <dgm:pt modelId="{7FC9F8E0-9485-48BA-B1A0-87BEC41B55FD}" type="sibTrans" cxnId="{CD8F23D7-C868-4409-A371-DB6F0CF44C83}">
      <dgm:prSet/>
      <dgm:spPr/>
    </dgm:pt>
    <dgm:pt modelId="{1F34E4E1-C091-4508-B7D1-A712082E0270}">
      <dgm:prSet phldr="0"/>
      <dgm:spPr/>
      <dgm:t>
        <a:bodyPr/>
        <a:lstStyle/>
        <a:p>
          <a:pPr rtl="0"/>
          <a:r>
            <a:rPr lang="en-US" dirty="0">
              <a:latin typeface="Arial"/>
            </a:rPr>
            <a:t>-Brute force comparison of top locations within 18nm of duty location grid</a:t>
          </a:r>
        </a:p>
      </dgm:t>
    </dgm:pt>
    <dgm:pt modelId="{B8C0FD82-83C7-455D-A6FE-B6403A779D83}" type="parTrans" cxnId="{34EC242B-3698-40FE-9090-585342B33716}">
      <dgm:prSet/>
      <dgm:spPr/>
    </dgm:pt>
    <dgm:pt modelId="{B9D12DEC-263A-4836-9857-E914121B7ED7}" type="sibTrans" cxnId="{34EC242B-3698-40FE-9090-585342B33716}">
      <dgm:prSet/>
      <dgm:spPr/>
    </dgm:pt>
    <dgm:pt modelId="{00245D56-3F71-41B7-8B2D-79A66C5E605E}">
      <dgm:prSet phldr="0"/>
      <dgm:spPr/>
      <dgm:t>
        <a:bodyPr/>
        <a:lstStyle/>
        <a:p>
          <a:endParaRPr lang="en-US" dirty="0">
            <a:latin typeface="Arial"/>
          </a:endParaRPr>
        </a:p>
      </dgm:t>
    </dgm:pt>
    <dgm:pt modelId="{547BA6F7-3752-4517-AFD8-FA03C33C402F}" type="parTrans" cxnId="{E7511626-B0F0-44A2-A3F7-6EABB70CF360}">
      <dgm:prSet/>
      <dgm:spPr/>
    </dgm:pt>
    <dgm:pt modelId="{5F1EFE01-ACDF-4660-9976-DBC0C9EDDD28}" type="sibTrans" cxnId="{E7511626-B0F0-44A2-A3F7-6EABB70CF360}">
      <dgm:prSet/>
      <dgm:spPr/>
    </dgm:pt>
    <dgm:pt modelId="{770A468D-0161-4FAB-AA88-3F95EC24686A}">
      <dgm:prSet phldr="0"/>
      <dgm:spPr/>
      <dgm:t>
        <a:bodyPr/>
        <a:lstStyle/>
        <a:p>
          <a:pPr rtl="0"/>
          <a:endParaRPr lang="en-US" dirty="0">
            <a:latin typeface="Arial"/>
          </a:endParaRPr>
        </a:p>
      </dgm:t>
    </dgm:pt>
    <dgm:pt modelId="{CCA14A06-B99C-4E12-AC6F-9A49194FC722}" type="parTrans" cxnId="{69FE1AE9-5E8C-4C2C-AF36-1BBE866C75E5}">
      <dgm:prSet/>
      <dgm:spPr/>
    </dgm:pt>
    <dgm:pt modelId="{88B202D3-B79B-41ED-B7EB-9C6946FC112F}" type="sibTrans" cxnId="{69FE1AE9-5E8C-4C2C-AF36-1BBE866C75E5}">
      <dgm:prSet/>
      <dgm:spPr/>
    </dgm:pt>
    <dgm:pt modelId="{B10505DF-2577-4E55-985C-35E6AC83E73F}" type="pres">
      <dgm:prSet presAssocID="{9F4C4F20-7061-4860-BD44-DD0F46FCC2A8}" presName="Name0" presStyleCnt="0">
        <dgm:presLayoutVars>
          <dgm:dir/>
          <dgm:animLvl val="lvl"/>
          <dgm:resizeHandles val="exact"/>
        </dgm:presLayoutVars>
      </dgm:prSet>
      <dgm:spPr/>
    </dgm:pt>
    <dgm:pt modelId="{16799059-F7D0-4FB4-9AAA-35320A2820AD}" type="pres">
      <dgm:prSet presAssocID="{18748992-135D-4307-BDAF-DC1E2D5997A6}" presName="compositeNode" presStyleCnt="0">
        <dgm:presLayoutVars>
          <dgm:bulletEnabled val="1"/>
        </dgm:presLayoutVars>
      </dgm:prSet>
      <dgm:spPr/>
    </dgm:pt>
    <dgm:pt modelId="{33A9D276-C79E-4634-ACC0-76AE9337BD58}" type="pres">
      <dgm:prSet presAssocID="{18748992-135D-4307-BDAF-DC1E2D5997A6}" presName="bgRect" presStyleLbl="node1" presStyleIdx="0" presStyleCnt="3"/>
      <dgm:spPr/>
    </dgm:pt>
    <dgm:pt modelId="{412F6C0C-6CB8-4536-A0E4-D89E78A45E61}" type="pres">
      <dgm:prSet presAssocID="{18748992-135D-4307-BDAF-DC1E2D5997A6}" presName="parentNode" presStyleLbl="node1" presStyleIdx="0" presStyleCnt="3">
        <dgm:presLayoutVars>
          <dgm:chMax val="0"/>
          <dgm:bulletEnabled val="1"/>
        </dgm:presLayoutVars>
      </dgm:prSet>
      <dgm:spPr/>
    </dgm:pt>
    <dgm:pt modelId="{2C9549C2-8504-462E-8C66-C6E394CF4DB2}" type="pres">
      <dgm:prSet presAssocID="{18748992-135D-4307-BDAF-DC1E2D5997A6}" presName="childNode" presStyleLbl="node1" presStyleIdx="0" presStyleCnt="3">
        <dgm:presLayoutVars>
          <dgm:bulletEnabled val="1"/>
        </dgm:presLayoutVars>
      </dgm:prSet>
      <dgm:spPr/>
    </dgm:pt>
    <dgm:pt modelId="{AC0ADBC1-4D51-484B-AF7C-2A62ACEEF768}" type="pres">
      <dgm:prSet presAssocID="{C4C6E7A3-E750-4107-A2E8-F6E9BC5D6958}" presName="hSp" presStyleCnt="0"/>
      <dgm:spPr/>
    </dgm:pt>
    <dgm:pt modelId="{6CA6EC5A-A518-444E-A113-D48854C3778D}" type="pres">
      <dgm:prSet presAssocID="{C4C6E7A3-E750-4107-A2E8-F6E9BC5D6958}" presName="vProcSp" presStyleCnt="0"/>
      <dgm:spPr/>
    </dgm:pt>
    <dgm:pt modelId="{36FC4F5D-FB97-4DDD-8C62-4201C911A760}" type="pres">
      <dgm:prSet presAssocID="{C4C6E7A3-E750-4107-A2E8-F6E9BC5D6958}" presName="vSp1" presStyleCnt="0"/>
      <dgm:spPr/>
    </dgm:pt>
    <dgm:pt modelId="{1C4BC858-3AB2-4C71-B3A5-3D7F2F18007C}" type="pres">
      <dgm:prSet presAssocID="{C4C6E7A3-E750-4107-A2E8-F6E9BC5D6958}" presName="simulatedConn" presStyleLbl="solidFgAcc1" presStyleIdx="0" presStyleCnt="2"/>
      <dgm:spPr/>
    </dgm:pt>
    <dgm:pt modelId="{34BE295E-AC31-4B6C-8C7E-439191BFC50B}" type="pres">
      <dgm:prSet presAssocID="{C4C6E7A3-E750-4107-A2E8-F6E9BC5D6958}" presName="vSp2" presStyleCnt="0"/>
      <dgm:spPr/>
    </dgm:pt>
    <dgm:pt modelId="{4939167E-F918-4512-ABB1-3E1E01FB75DA}" type="pres">
      <dgm:prSet presAssocID="{C4C6E7A3-E750-4107-A2E8-F6E9BC5D6958}" presName="sibTrans" presStyleCnt="0"/>
      <dgm:spPr/>
    </dgm:pt>
    <dgm:pt modelId="{BFB12CEB-4F1C-460B-901D-3D4E07B68C07}" type="pres">
      <dgm:prSet presAssocID="{D1ECC2D1-CA58-492D-8CFF-DAA6682C7D72}" presName="compositeNode" presStyleCnt="0">
        <dgm:presLayoutVars>
          <dgm:bulletEnabled val="1"/>
        </dgm:presLayoutVars>
      </dgm:prSet>
      <dgm:spPr/>
    </dgm:pt>
    <dgm:pt modelId="{D2F358A5-3F28-4EDE-A00F-89927D780B07}" type="pres">
      <dgm:prSet presAssocID="{D1ECC2D1-CA58-492D-8CFF-DAA6682C7D72}" presName="bgRect" presStyleLbl="node1" presStyleIdx="1" presStyleCnt="3"/>
      <dgm:spPr/>
    </dgm:pt>
    <dgm:pt modelId="{24046980-C420-493B-B607-B8A5968C85A7}" type="pres">
      <dgm:prSet presAssocID="{D1ECC2D1-CA58-492D-8CFF-DAA6682C7D72}" presName="parentNode" presStyleLbl="node1" presStyleIdx="1" presStyleCnt="3">
        <dgm:presLayoutVars>
          <dgm:chMax val="0"/>
          <dgm:bulletEnabled val="1"/>
        </dgm:presLayoutVars>
      </dgm:prSet>
      <dgm:spPr/>
    </dgm:pt>
    <dgm:pt modelId="{4B078253-5D03-497D-AE5E-32094F6D7A8E}" type="pres">
      <dgm:prSet presAssocID="{D1ECC2D1-CA58-492D-8CFF-DAA6682C7D72}" presName="childNode" presStyleLbl="node1" presStyleIdx="1" presStyleCnt="3">
        <dgm:presLayoutVars>
          <dgm:bulletEnabled val="1"/>
        </dgm:presLayoutVars>
      </dgm:prSet>
      <dgm:spPr/>
    </dgm:pt>
    <dgm:pt modelId="{056F3E01-4934-4F20-B9F0-AB8ACCB5C0DD}" type="pres">
      <dgm:prSet presAssocID="{0815F717-D831-4632-8757-1743BFF57607}" presName="hSp" presStyleCnt="0"/>
      <dgm:spPr/>
    </dgm:pt>
    <dgm:pt modelId="{FD7482FC-DE4F-4881-9198-5B89F7070F1A}" type="pres">
      <dgm:prSet presAssocID="{0815F717-D831-4632-8757-1743BFF57607}" presName="vProcSp" presStyleCnt="0"/>
      <dgm:spPr/>
    </dgm:pt>
    <dgm:pt modelId="{A72AC63E-27AB-43EB-AA42-3649CABDA04A}" type="pres">
      <dgm:prSet presAssocID="{0815F717-D831-4632-8757-1743BFF57607}" presName="vSp1" presStyleCnt="0"/>
      <dgm:spPr/>
    </dgm:pt>
    <dgm:pt modelId="{B3673C0E-2EA4-4F62-ABD0-37B0068246CB}" type="pres">
      <dgm:prSet presAssocID="{0815F717-D831-4632-8757-1743BFF57607}" presName="simulatedConn" presStyleLbl="solidFgAcc1" presStyleIdx="1" presStyleCnt="2"/>
      <dgm:spPr/>
    </dgm:pt>
    <dgm:pt modelId="{32A2E5BE-1E5D-43C7-848B-47F3D60ACCB7}" type="pres">
      <dgm:prSet presAssocID="{0815F717-D831-4632-8757-1743BFF57607}" presName="vSp2" presStyleCnt="0"/>
      <dgm:spPr/>
    </dgm:pt>
    <dgm:pt modelId="{7EE0C932-E996-4B5A-B6A2-8EA5E225FE18}" type="pres">
      <dgm:prSet presAssocID="{0815F717-D831-4632-8757-1743BFF57607}" presName="sibTrans" presStyleCnt="0"/>
      <dgm:spPr/>
    </dgm:pt>
    <dgm:pt modelId="{9A09601F-B816-4CDF-883A-039B59F165EE}" type="pres">
      <dgm:prSet presAssocID="{04B225E2-06B4-41A0-BB58-F33A3F8166E5}" presName="compositeNode" presStyleCnt="0">
        <dgm:presLayoutVars>
          <dgm:bulletEnabled val="1"/>
        </dgm:presLayoutVars>
      </dgm:prSet>
      <dgm:spPr/>
    </dgm:pt>
    <dgm:pt modelId="{0B856C5D-7B40-4071-87AF-2E1C2C94F644}" type="pres">
      <dgm:prSet presAssocID="{04B225E2-06B4-41A0-BB58-F33A3F8166E5}" presName="bgRect" presStyleLbl="node1" presStyleIdx="2" presStyleCnt="3"/>
      <dgm:spPr/>
    </dgm:pt>
    <dgm:pt modelId="{A03AD640-03C2-45FC-8AC4-1F95B7033847}" type="pres">
      <dgm:prSet presAssocID="{04B225E2-06B4-41A0-BB58-F33A3F8166E5}" presName="parentNode" presStyleLbl="node1" presStyleIdx="2" presStyleCnt="3">
        <dgm:presLayoutVars>
          <dgm:chMax val="0"/>
          <dgm:bulletEnabled val="1"/>
        </dgm:presLayoutVars>
      </dgm:prSet>
      <dgm:spPr/>
    </dgm:pt>
    <dgm:pt modelId="{4CB4AB19-A698-4540-9A8D-BA86C5AFAC75}" type="pres">
      <dgm:prSet presAssocID="{04B225E2-06B4-41A0-BB58-F33A3F8166E5}" presName="childNode" presStyleLbl="node1" presStyleIdx="2" presStyleCnt="3">
        <dgm:presLayoutVars>
          <dgm:bulletEnabled val="1"/>
        </dgm:presLayoutVars>
      </dgm:prSet>
      <dgm:spPr/>
    </dgm:pt>
  </dgm:ptLst>
  <dgm:cxnLst>
    <dgm:cxn modelId="{604A7802-D276-45C1-8CB2-FB415F42703C}" type="presOf" srcId="{1637574C-5F40-460E-A63C-8320F70D9736}" destId="{2C9549C2-8504-462E-8C66-C6E394CF4DB2}" srcOrd="0" destOrd="2" presId="urn:microsoft.com/office/officeart/2005/8/layout/hProcess7"/>
    <dgm:cxn modelId="{7763DF0B-7A45-4373-B39D-BA7F1020BBCE}" type="presOf" srcId="{67D59100-AEBA-4D70-AFEC-9A8B803B0399}" destId="{4CB4AB19-A698-4540-9A8D-BA86C5AFAC75}" srcOrd="0" destOrd="2" presId="urn:microsoft.com/office/officeart/2005/8/layout/hProcess7"/>
    <dgm:cxn modelId="{8C0C110E-18F6-4881-B1DA-FD95162213D6}" type="presOf" srcId="{2BE940BF-8143-4472-BF30-CAF77F694AD0}" destId="{4B078253-5D03-497D-AE5E-32094F6D7A8E}" srcOrd="0" destOrd="2" presId="urn:microsoft.com/office/officeart/2005/8/layout/hProcess7"/>
    <dgm:cxn modelId="{E3D9AB10-11FF-41D3-9F8F-2BE8600730A9}" type="presOf" srcId="{D01A2734-36F5-4B4E-BEED-2ACCD6757EBB}" destId="{2C9549C2-8504-462E-8C66-C6E394CF4DB2}" srcOrd="0" destOrd="0" presId="urn:microsoft.com/office/officeart/2005/8/layout/hProcess7"/>
    <dgm:cxn modelId="{137B8015-2DA0-4DA8-8E11-53DDC5BF6C67}" srcId="{04B225E2-06B4-41A0-BB58-F33A3F8166E5}" destId="{5D757253-C733-4D99-AEA1-1B70BAE4EA63}" srcOrd="4" destOrd="0" parTransId="{8DDD80C1-A574-4E2B-BAF5-B34AED68955B}" sibTransId="{8C298EDF-BA2E-4F64-A3B1-4AE6481153B9}"/>
    <dgm:cxn modelId="{C3993E1F-2771-4F9D-9A23-B585F1767378}" type="presOf" srcId="{00245D56-3F71-41B7-8B2D-79A66C5E605E}" destId="{4CB4AB19-A698-4540-9A8D-BA86C5AFAC75}" srcOrd="0" destOrd="1" presId="urn:microsoft.com/office/officeart/2005/8/layout/hProcess7"/>
    <dgm:cxn modelId="{E7511626-B0F0-44A2-A3F7-6EABB70CF360}" srcId="{04B225E2-06B4-41A0-BB58-F33A3F8166E5}" destId="{00245D56-3F71-41B7-8B2D-79A66C5E605E}" srcOrd="1" destOrd="0" parTransId="{547BA6F7-3752-4517-AFD8-FA03C33C402F}" sibTransId="{5F1EFE01-ACDF-4660-9976-DBC0C9EDDD28}"/>
    <dgm:cxn modelId="{34EC242B-3698-40FE-9090-585342B33716}" srcId="{04B225E2-06B4-41A0-BB58-F33A3F8166E5}" destId="{1F34E4E1-C091-4508-B7D1-A712082E0270}" srcOrd="0" destOrd="0" parTransId="{B8C0FD82-83C7-455D-A6FE-B6403A779D83}" sibTransId="{B9D12DEC-263A-4836-9857-E914121B7ED7}"/>
    <dgm:cxn modelId="{9C322A30-DF2E-4400-BB55-F66A9CCA8409}" srcId="{04B225E2-06B4-41A0-BB58-F33A3F8166E5}" destId="{67D59100-AEBA-4D70-AFEC-9A8B803B0399}" srcOrd="2" destOrd="0" parTransId="{B08032EA-2D0D-4955-BBA0-6B26677FBA0E}" sibTransId="{357B1C44-3A52-4014-8B43-64D083192637}"/>
    <dgm:cxn modelId="{9FDA6141-5371-440F-B182-10E24FCB8CBF}" type="presOf" srcId="{D1ECC2D1-CA58-492D-8CFF-DAA6682C7D72}" destId="{24046980-C420-493B-B607-B8A5968C85A7}" srcOrd="1" destOrd="0" presId="urn:microsoft.com/office/officeart/2005/8/layout/hProcess7"/>
    <dgm:cxn modelId="{DB061743-A466-4650-A0E3-C5698A9A0F84}" srcId="{D1ECC2D1-CA58-492D-8CFF-DAA6682C7D72}" destId="{2BE940BF-8143-4472-BF30-CAF77F694AD0}" srcOrd="2" destOrd="0" parTransId="{832A1DA0-F641-4E73-BA8A-7B509962967A}" sibTransId="{439EE98D-B4F4-4626-BAD6-A8C8A60A3EF2}"/>
    <dgm:cxn modelId="{C11E1D45-F3CD-4292-A5A4-0FD6EBF7F17E}" srcId="{9F4C4F20-7061-4860-BD44-DD0F46FCC2A8}" destId="{04B225E2-06B4-41A0-BB58-F33A3F8166E5}" srcOrd="2" destOrd="0" parTransId="{242D1F0B-CC71-40C6-B1DF-B35CDC8DDC5E}" sibTransId="{A7DBE105-3A54-45B1-81B8-F630B4CEFFDC}"/>
    <dgm:cxn modelId="{E29DAE65-B99B-4C99-8734-A2A54259259A}" type="presOf" srcId="{D1ECC2D1-CA58-492D-8CFF-DAA6682C7D72}" destId="{D2F358A5-3F28-4EDE-A00F-89927D780B07}" srcOrd="0" destOrd="0" presId="urn:microsoft.com/office/officeart/2005/8/layout/hProcess7"/>
    <dgm:cxn modelId="{B1607766-EA33-4CBB-8AF2-CF9D28609F75}" type="presOf" srcId="{18748992-135D-4307-BDAF-DC1E2D5997A6}" destId="{412F6C0C-6CB8-4536-A0E4-D89E78A45E61}" srcOrd="1" destOrd="0" presId="urn:microsoft.com/office/officeart/2005/8/layout/hProcess7"/>
    <dgm:cxn modelId="{733B3B49-FF1A-44D8-A6E9-D0A17829F51B}" type="presOf" srcId="{1F34E4E1-C091-4508-B7D1-A712082E0270}" destId="{4CB4AB19-A698-4540-9A8D-BA86C5AFAC75}" srcOrd="0" destOrd="0" presId="urn:microsoft.com/office/officeart/2005/8/layout/hProcess7"/>
    <dgm:cxn modelId="{93596A6B-E005-48ED-8CAB-7D342EE8B827}" srcId="{18748992-135D-4307-BDAF-DC1E2D5997A6}" destId="{10BC66C4-F399-4EC8-BDDF-6E6F0427E121}" srcOrd="4" destOrd="0" parTransId="{39C66B93-DE5E-4548-8499-5CA2AC88ECE5}" sibTransId="{C7ED1B97-A4D5-4A36-BC1C-1087351F71B3}"/>
    <dgm:cxn modelId="{3CF20B4C-5862-420C-B547-18D50B0F94A3}" type="presOf" srcId="{5D757253-C733-4D99-AEA1-1B70BAE4EA63}" destId="{4CB4AB19-A698-4540-9A8D-BA86C5AFAC75}" srcOrd="0" destOrd="4" presId="urn:microsoft.com/office/officeart/2005/8/layout/hProcess7"/>
    <dgm:cxn modelId="{3DDAFF6E-CB9C-4CDE-88EE-773B7522D247}" srcId="{9F4C4F20-7061-4860-BD44-DD0F46FCC2A8}" destId="{18748992-135D-4307-BDAF-DC1E2D5997A6}" srcOrd="0" destOrd="0" parTransId="{E97AECFE-9EB1-48AE-86C4-017A323DC692}" sibTransId="{C4C6E7A3-E750-4107-A2E8-F6E9BC5D6958}"/>
    <dgm:cxn modelId="{EA493C6F-EEF6-4BBC-9B15-D11D59A77360}" type="presOf" srcId="{04B225E2-06B4-41A0-BB58-F33A3F8166E5}" destId="{0B856C5D-7B40-4071-87AF-2E1C2C94F644}" srcOrd="0" destOrd="0" presId="urn:microsoft.com/office/officeart/2005/8/layout/hProcess7"/>
    <dgm:cxn modelId="{A951C74F-B502-481E-8B91-89E55BA1F9B1}" type="presOf" srcId="{557B863C-26E7-4D0F-AA76-73D4AB0B5ADD}" destId="{4B078253-5D03-497D-AE5E-32094F6D7A8E}" srcOrd="0" destOrd="1" presId="urn:microsoft.com/office/officeart/2005/8/layout/hProcess7"/>
    <dgm:cxn modelId="{030AC873-1645-43F9-A669-7386B66B37EF}" srcId="{D1ECC2D1-CA58-492D-8CFF-DAA6682C7D72}" destId="{557B863C-26E7-4D0F-AA76-73D4AB0B5ADD}" srcOrd="1" destOrd="0" parTransId="{1A569C06-435B-4984-8897-2F02AA2FD46C}" sibTransId="{DA81D3CE-9BAF-40D6-958B-5E5E5E4F5317}"/>
    <dgm:cxn modelId="{78BD9678-F79A-4E5C-9717-5E448137F34C}" type="presOf" srcId="{04B225E2-06B4-41A0-BB58-F33A3F8166E5}" destId="{A03AD640-03C2-45FC-8AC4-1F95B7033847}" srcOrd="1" destOrd="0" presId="urn:microsoft.com/office/officeart/2005/8/layout/hProcess7"/>
    <dgm:cxn modelId="{079C228A-8272-4004-B916-3C193DBA0270}" type="presOf" srcId="{82D7C0EA-3AAF-4C91-91E3-1B809E414354}" destId="{2C9549C2-8504-462E-8C66-C6E394CF4DB2}" srcOrd="0" destOrd="1" presId="urn:microsoft.com/office/officeart/2005/8/layout/hProcess7"/>
    <dgm:cxn modelId="{3A185F8D-CB83-423E-9137-EC5CE4B23078}" type="presOf" srcId="{E2FD0498-E7EF-40F1-A105-FF6C43BE691D}" destId="{4B078253-5D03-497D-AE5E-32094F6D7A8E}" srcOrd="0" destOrd="0" presId="urn:microsoft.com/office/officeart/2005/8/layout/hProcess7"/>
    <dgm:cxn modelId="{B9FFA392-0756-44DD-8D61-B9FB5F98FA21}" type="presOf" srcId="{28189ACA-DDCB-4557-9F70-DA79AAE65B76}" destId="{2C9549C2-8504-462E-8C66-C6E394CF4DB2}" srcOrd="0" destOrd="3" presId="urn:microsoft.com/office/officeart/2005/8/layout/hProcess7"/>
    <dgm:cxn modelId="{90BD2F9B-06D5-49D6-9A04-C77E2EB6139D}" type="presOf" srcId="{18748992-135D-4307-BDAF-DC1E2D5997A6}" destId="{33A9D276-C79E-4634-ACC0-76AE9337BD58}" srcOrd="0" destOrd="0" presId="urn:microsoft.com/office/officeart/2005/8/layout/hProcess7"/>
    <dgm:cxn modelId="{7AA29A9B-825D-4276-AE04-C2EBBB259568}" type="presOf" srcId="{9F4C4F20-7061-4860-BD44-DD0F46FCC2A8}" destId="{B10505DF-2577-4E55-985C-35E6AC83E73F}" srcOrd="0" destOrd="0" presId="urn:microsoft.com/office/officeart/2005/8/layout/hProcess7"/>
    <dgm:cxn modelId="{2142AFA1-721F-433F-BC3F-7AEED8D86761}" type="presOf" srcId="{10BC66C4-F399-4EC8-BDDF-6E6F0427E121}" destId="{2C9549C2-8504-462E-8C66-C6E394CF4DB2}" srcOrd="0" destOrd="4" presId="urn:microsoft.com/office/officeart/2005/8/layout/hProcess7"/>
    <dgm:cxn modelId="{9ACA83B3-8D3A-475A-A1A7-8EC2D2D013A1}" srcId="{9F4C4F20-7061-4860-BD44-DD0F46FCC2A8}" destId="{D1ECC2D1-CA58-492D-8CFF-DAA6682C7D72}" srcOrd="1" destOrd="0" parTransId="{1481C9B9-9C9A-4FB9-851B-8DDB3E2BFB26}" sibTransId="{0815F717-D831-4632-8757-1743BFF57607}"/>
    <dgm:cxn modelId="{DE7B3BB6-5ACA-4CC5-B728-A6A9E53C7A33}" srcId="{18748992-135D-4307-BDAF-DC1E2D5997A6}" destId="{82D7C0EA-3AAF-4C91-91E3-1B809E414354}" srcOrd="1" destOrd="0" parTransId="{B486835F-012E-4613-8E37-EF72C2D6EACA}" sibTransId="{071E24F5-3592-4506-9BCE-B159DC7D2C25}"/>
    <dgm:cxn modelId="{F3093EC5-B889-48AB-B657-9689FD86D327}" srcId="{18748992-135D-4307-BDAF-DC1E2D5997A6}" destId="{28189ACA-DDCB-4557-9F70-DA79AAE65B76}" srcOrd="3" destOrd="0" parTransId="{03B7513D-385E-477A-A0CA-7F0822FE5833}" sibTransId="{D9F33FF4-3CBB-408E-99CB-8ECDFC3F8452}"/>
    <dgm:cxn modelId="{4444A5D4-55A8-4721-BDCC-20B87D43A490}" srcId="{18748992-135D-4307-BDAF-DC1E2D5997A6}" destId="{1637574C-5F40-460E-A63C-8320F70D9736}" srcOrd="2" destOrd="0" parTransId="{F0B9E0F6-278C-4DB8-B855-7BDBC60B3619}" sibTransId="{B9376F28-5BF6-49BA-847E-FAAA302024ED}"/>
    <dgm:cxn modelId="{CD8F23D7-C868-4409-A371-DB6F0CF44C83}" srcId="{D1ECC2D1-CA58-492D-8CFF-DAA6682C7D72}" destId="{E2FD0498-E7EF-40F1-A105-FF6C43BE691D}" srcOrd="0" destOrd="0" parTransId="{98B602D9-29C3-4183-BE55-B5DA8E145890}" sibTransId="{7FC9F8E0-9485-48BA-B1A0-87BEC41B55FD}"/>
    <dgm:cxn modelId="{69FE1AE9-5E8C-4C2C-AF36-1BBE866C75E5}" srcId="{04B225E2-06B4-41A0-BB58-F33A3F8166E5}" destId="{770A468D-0161-4FAB-AA88-3F95EC24686A}" srcOrd="3" destOrd="0" parTransId="{CCA14A06-B99C-4E12-AC6F-9A49194FC722}" sibTransId="{88B202D3-B79B-41ED-B7EB-9C6946FC112F}"/>
    <dgm:cxn modelId="{C815FDED-6623-4E55-8AA0-8553DA9C9499}" srcId="{18748992-135D-4307-BDAF-DC1E2D5997A6}" destId="{D01A2734-36F5-4B4E-BEED-2ACCD6757EBB}" srcOrd="0" destOrd="0" parTransId="{FF7E0FD8-9828-4D30-A6C1-CD5C970BD68F}" sibTransId="{7690F937-90B3-469A-9E85-C4F66F11D163}"/>
    <dgm:cxn modelId="{AE72A5FF-A484-4434-8B83-6E380C19C96A}" type="presOf" srcId="{770A468D-0161-4FAB-AA88-3F95EC24686A}" destId="{4CB4AB19-A698-4540-9A8D-BA86C5AFAC75}" srcOrd="0" destOrd="3" presId="urn:microsoft.com/office/officeart/2005/8/layout/hProcess7"/>
    <dgm:cxn modelId="{6126624E-1067-48F5-9218-94658F65443D}" type="presParOf" srcId="{B10505DF-2577-4E55-985C-35E6AC83E73F}" destId="{16799059-F7D0-4FB4-9AAA-35320A2820AD}" srcOrd="0" destOrd="0" presId="urn:microsoft.com/office/officeart/2005/8/layout/hProcess7"/>
    <dgm:cxn modelId="{C75D3626-B508-4C0C-962D-D903F11C070F}" type="presParOf" srcId="{16799059-F7D0-4FB4-9AAA-35320A2820AD}" destId="{33A9D276-C79E-4634-ACC0-76AE9337BD58}" srcOrd="0" destOrd="0" presId="urn:microsoft.com/office/officeart/2005/8/layout/hProcess7"/>
    <dgm:cxn modelId="{879E7F01-294B-427C-8AA4-68A139B41A84}" type="presParOf" srcId="{16799059-F7D0-4FB4-9AAA-35320A2820AD}" destId="{412F6C0C-6CB8-4536-A0E4-D89E78A45E61}" srcOrd="1" destOrd="0" presId="urn:microsoft.com/office/officeart/2005/8/layout/hProcess7"/>
    <dgm:cxn modelId="{8DEE10E3-F99F-484E-89EA-4ECE759AF390}" type="presParOf" srcId="{16799059-F7D0-4FB4-9AAA-35320A2820AD}" destId="{2C9549C2-8504-462E-8C66-C6E394CF4DB2}" srcOrd="2" destOrd="0" presId="urn:microsoft.com/office/officeart/2005/8/layout/hProcess7"/>
    <dgm:cxn modelId="{722B29A4-0E56-469F-8747-A128E6688DB2}" type="presParOf" srcId="{B10505DF-2577-4E55-985C-35E6AC83E73F}" destId="{AC0ADBC1-4D51-484B-AF7C-2A62ACEEF768}" srcOrd="1" destOrd="0" presId="urn:microsoft.com/office/officeart/2005/8/layout/hProcess7"/>
    <dgm:cxn modelId="{9BC84936-82AF-4A8C-B14F-511065EA7666}" type="presParOf" srcId="{B10505DF-2577-4E55-985C-35E6AC83E73F}" destId="{6CA6EC5A-A518-444E-A113-D48854C3778D}" srcOrd="2" destOrd="0" presId="urn:microsoft.com/office/officeart/2005/8/layout/hProcess7"/>
    <dgm:cxn modelId="{5AE33DF0-2984-4E63-B955-FD9F983EACCE}" type="presParOf" srcId="{6CA6EC5A-A518-444E-A113-D48854C3778D}" destId="{36FC4F5D-FB97-4DDD-8C62-4201C911A760}" srcOrd="0" destOrd="0" presId="urn:microsoft.com/office/officeart/2005/8/layout/hProcess7"/>
    <dgm:cxn modelId="{F9D59B58-B2CE-4E66-BA88-4DE6BB5F60A7}" type="presParOf" srcId="{6CA6EC5A-A518-444E-A113-D48854C3778D}" destId="{1C4BC858-3AB2-4C71-B3A5-3D7F2F18007C}" srcOrd="1" destOrd="0" presId="urn:microsoft.com/office/officeart/2005/8/layout/hProcess7"/>
    <dgm:cxn modelId="{9000934F-40E9-4EDB-9B6C-F3AA5DA7F26A}" type="presParOf" srcId="{6CA6EC5A-A518-444E-A113-D48854C3778D}" destId="{34BE295E-AC31-4B6C-8C7E-439191BFC50B}" srcOrd="2" destOrd="0" presId="urn:microsoft.com/office/officeart/2005/8/layout/hProcess7"/>
    <dgm:cxn modelId="{59F416AC-0835-445C-A805-145C66F47B53}" type="presParOf" srcId="{B10505DF-2577-4E55-985C-35E6AC83E73F}" destId="{4939167E-F918-4512-ABB1-3E1E01FB75DA}" srcOrd="3" destOrd="0" presId="urn:microsoft.com/office/officeart/2005/8/layout/hProcess7"/>
    <dgm:cxn modelId="{03349A85-9B6E-4C8E-A76E-C84220DB9B75}" type="presParOf" srcId="{B10505DF-2577-4E55-985C-35E6AC83E73F}" destId="{BFB12CEB-4F1C-460B-901D-3D4E07B68C07}" srcOrd="4" destOrd="0" presId="urn:microsoft.com/office/officeart/2005/8/layout/hProcess7"/>
    <dgm:cxn modelId="{14D67005-34E8-441D-8680-A706081271E3}" type="presParOf" srcId="{BFB12CEB-4F1C-460B-901D-3D4E07B68C07}" destId="{D2F358A5-3F28-4EDE-A00F-89927D780B07}" srcOrd="0" destOrd="0" presId="urn:microsoft.com/office/officeart/2005/8/layout/hProcess7"/>
    <dgm:cxn modelId="{D048CE92-2B97-4B15-BB94-07A4E59ECA98}" type="presParOf" srcId="{BFB12CEB-4F1C-460B-901D-3D4E07B68C07}" destId="{24046980-C420-493B-B607-B8A5968C85A7}" srcOrd="1" destOrd="0" presId="urn:microsoft.com/office/officeart/2005/8/layout/hProcess7"/>
    <dgm:cxn modelId="{01BB1250-FC54-431D-BD50-B6FC284DF529}" type="presParOf" srcId="{BFB12CEB-4F1C-460B-901D-3D4E07B68C07}" destId="{4B078253-5D03-497D-AE5E-32094F6D7A8E}" srcOrd="2" destOrd="0" presId="urn:microsoft.com/office/officeart/2005/8/layout/hProcess7"/>
    <dgm:cxn modelId="{E9909245-D609-4BE3-A15D-D1803B1C2F69}" type="presParOf" srcId="{B10505DF-2577-4E55-985C-35E6AC83E73F}" destId="{056F3E01-4934-4F20-B9F0-AB8ACCB5C0DD}" srcOrd="5" destOrd="0" presId="urn:microsoft.com/office/officeart/2005/8/layout/hProcess7"/>
    <dgm:cxn modelId="{60AC546D-AAAA-4853-9FA3-85761F1691FC}" type="presParOf" srcId="{B10505DF-2577-4E55-985C-35E6AC83E73F}" destId="{FD7482FC-DE4F-4881-9198-5B89F7070F1A}" srcOrd="6" destOrd="0" presId="urn:microsoft.com/office/officeart/2005/8/layout/hProcess7"/>
    <dgm:cxn modelId="{0C482684-DB19-4473-8842-56B02FE15A2D}" type="presParOf" srcId="{FD7482FC-DE4F-4881-9198-5B89F7070F1A}" destId="{A72AC63E-27AB-43EB-AA42-3649CABDA04A}" srcOrd="0" destOrd="0" presId="urn:microsoft.com/office/officeart/2005/8/layout/hProcess7"/>
    <dgm:cxn modelId="{53A9DC98-DD5A-4737-A749-50F44DE09993}" type="presParOf" srcId="{FD7482FC-DE4F-4881-9198-5B89F7070F1A}" destId="{B3673C0E-2EA4-4F62-ABD0-37B0068246CB}" srcOrd="1" destOrd="0" presId="urn:microsoft.com/office/officeart/2005/8/layout/hProcess7"/>
    <dgm:cxn modelId="{7E1CAF96-45CA-4B40-A08B-38602F844A50}" type="presParOf" srcId="{FD7482FC-DE4F-4881-9198-5B89F7070F1A}" destId="{32A2E5BE-1E5D-43C7-848B-47F3D60ACCB7}" srcOrd="2" destOrd="0" presId="urn:microsoft.com/office/officeart/2005/8/layout/hProcess7"/>
    <dgm:cxn modelId="{DCAC4A23-4E36-4A3F-8A9E-B504F248146F}" type="presParOf" srcId="{B10505DF-2577-4E55-985C-35E6AC83E73F}" destId="{7EE0C932-E996-4B5A-B6A2-8EA5E225FE18}" srcOrd="7" destOrd="0" presId="urn:microsoft.com/office/officeart/2005/8/layout/hProcess7"/>
    <dgm:cxn modelId="{C6A611E8-5062-404B-80C4-42304613807B}" type="presParOf" srcId="{B10505DF-2577-4E55-985C-35E6AC83E73F}" destId="{9A09601F-B816-4CDF-883A-039B59F165EE}" srcOrd="8" destOrd="0" presId="urn:microsoft.com/office/officeart/2005/8/layout/hProcess7"/>
    <dgm:cxn modelId="{C6B00283-7240-4C3E-BCF4-5795019703DF}" type="presParOf" srcId="{9A09601F-B816-4CDF-883A-039B59F165EE}" destId="{0B856C5D-7B40-4071-87AF-2E1C2C94F644}" srcOrd="0" destOrd="0" presId="urn:microsoft.com/office/officeart/2005/8/layout/hProcess7"/>
    <dgm:cxn modelId="{BC0A613F-A4CA-447A-8B50-49D53EE9C27E}" type="presParOf" srcId="{9A09601F-B816-4CDF-883A-039B59F165EE}" destId="{A03AD640-03C2-45FC-8AC4-1F95B7033847}" srcOrd="1" destOrd="0" presId="urn:microsoft.com/office/officeart/2005/8/layout/hProcess7"/>
    <dgm:cxn modelId="{27E834EE-7A1C-4062-B951-614E8EDC8740}" type="presParOf" srcId="{9A09601F-B816-4CDF-883A-039B59F165EE}" destId="{4CB4AB19-A698-4540-9A8D-BA86C5AFAC75}" srcOrd="2" destOrd="0" presId="urn:microsoft.com/office/officeart/2005/8/layout/hProcess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A9D276-C79E-4634-ACC0-76AE9337BD58}">
      <dsp:nvSpPr>
        <dsp:cNvPr id="0" name=""/>
        <dsp:cNvSpPr/>
      </dsp:nvSpPr>
      <dsp:spPr>
        <a:xfrm>
          <a:off x="660" y="1123494"/>
          <a:ext cx="2841403" cy="3409683"/>
        </a:xfrm>
        <a:prstGeom prst="roundRect">
          <a:avLst>
            <a:gd name="adj" fmla="val 5000"/>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13157" rIns="146685" bIns="0" numCol="1" spcCol="1270" anchor="t" anchorCtr="0">
          <a:noAutofit/>
        </a:bodyPr>
        <a:lstStyle/>
        <a:p>
          <a:pPr marL="0" lvl="0" indent="0" algn="r" defTabSz="1466850" rtl="0">
            <a:lnSpc>
              <a:spcPct val="90000"/>
            </a:lnSpc>
            <a:spcBef>
              <a:spcPct val="0"/>
            </a:spcBef>
            <a:spcAft>
              <a:spcPct val="35000"/>
            </a:spcAft>
            <a:buNone/>
          </a:pPr>
          <a:r>
            <a:rPr lang="en-US" sz="3300" kern="1200" dirty="0">
              <a:latin typeface="Arial"/>
            </a:rPr>
            <a:t>Data Curation</a:t>
          </a:r>
          <a:endParaRPr lang="en-US" sz="3300" kern="1200" dirty="0"/>
        </a:p>
      </dsp:txBody>
      <dsp:txXfrm rot="16200000">
        <a:off x="-1113169" y="2237324"/>
        <a:ext cx="2795940" cy="568280"/>
      </dsp:txXfrm>
    </dsp:sp>
    <dsp:sp modelId="{2C9549C2-8504-462E-8C66-C6E394CF4DB2}">
      <dsp:nvSpPr>
        <dsp:cNvPr id="0" name=""/>
        <dsp:cNvSpPr/>
      </dsp:nvSpPr>
      <dsp:spPr>
        <a:xfrm>
          <a:off x="568940" y="1123494"/>
          <a:ext cx="2116845" cy="3409683"/>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r>
            <a:rPr lang="en-US" sz="1700" kern="1200" dirty="0">
              <a:latin typeface="Arial"/>
            </a:rPr>
            <a:t>-26 files from 8 sources</a:t>
          </a:r>
          <a:endParaRPr lang="en-US" sz="1700" kern="1200" dirty="0"/>
        </a:p>
        <a:p>
          <a:pPr marL="0" lvl="0" indent="0" algn="l" defTabSz="755650">
            <a:lnSpc>
              <a:spcPct val="90000"/>
            </a:lnSpc>
            <a:spcBef>
              <a:spcPct val="0"/>
            </a:spcBef>
            <a:spcAft>
              <a:spcPct val="35000"/>
            </a:spcAft>
            <a:buNone/>
          </a:pPr>
          <a:endParaRPr lang="en-US" sz="1700" kern="1200" dirty="0">
            <a:latin typeface="Arial"/>
          </a:endParaRPr>
        </a:p>
        <a:p>
          <a:pPr marL="0" lvl="0" indent="0" algn="l" defTabSz="755650" rtl="0">
            <a:lnSpc>
              <a:spcPct val="90000"/>
            </a:lnSpc>
            <a:spcBef>
              <a:spcPct val="0"/>
            </a:spcBef>
            <a:spcAft>
              <a:spcPct val="35000"/>
            </a:spcAft>
            <a:buNone/>
          </a:pPr>
          <a:r>
            <a:rPr lang="en-US" sz="1700" kern="1200" dirty="0">
              <a:latin typeface="Arial"/>
            </a:rPr>
            <a:t>-Merged data into </a:t>
          </a:r>
          <a:r>
            <a:rPr lang="en-US" sz="1700" kern="1200" dirty="0" err="1">
              <a:latin typeface="Arial"/>
            </a:rPr>
            <a:t>geodataframes</a:t>
          </a:r>
          <a:r>
            <a:rPr lang="en-US" sz="1700" kern="1200" dirty="0">
              <a:latin typeface="Arial"/>
            </a:rPr>
            <a:t> built off census mapping files via GeoPandas spatial join</a:t>
          </a:r>
        </a:p>
        <a:p>
          <a:pPr marL="0" lvl="0" indent="0" algn="l" defTabSz="755650">
            <a:lnSpc>
              <a:spcPct val="90000"/>
            </a:lnSpc>
            <a:spcBef>
              <a:spcPct val="0"/>
            </a:spcBef>
            <a:spcAft>
              <a:spcPct val="35000"/>
            </a:spcAft>
            <a:buNone/>
          </a:pPr>
          <a:endParaRPr lang="en-US" sz="1700" kern="1200" dirty="0">
            <a:latin typeface="Arial"/>
          </a:endParaRPr>
        </a:p>
        <a:p>
          <a:pPr marL="0" lvl="0" indent="0" algn="l" defTabSz="755650" rtl="0">
            <a:lnSpc>
              <a:spcPct val="90000"/>
            </a:lnSpc>
            <a:spcBef>
              <a:spcPct val="0"/>
            </a:spcBef>
            <a:spcAft>
              <a:spcPct val="35000"/>
            </a:spcAft>
            <a:buNone/>
          </a:pPr>
          <a:r>
            <a:rPr lang="en-US" sz="1700" kern="1200" dirty="0">
              <a:latin typeface="Arial"/>
            </a:rPr>
            <a:t>-Missing data input to defined average </a:t>
          </a:r>
        </a:p>
      </dsp:txBody>
      <dsp:txXfrm>
        <a:off x="568940" y="1123494"/>
        <a:ext cx="2116845" cy="3409683"/>
      </dsp:txXfrm>
    </dsp:sp>
    <dsp:sp modelId="{D2F358A5-3F28-4EDE-A00F-89927D780B07}">
      <dsp:nvSpPr>
        <dsp:cNvPr id="0" name=""/>
        <dsp:cNvSpPr/>
      </dsp:nvSpPr>
      <dsp:spPr>
        <a:xfrm>
          <a:off x="2941512" y="1123494"/>
          <a:ext cx="2841403" cy="3409683"/>
        </a:xfrm>
        <a:prstGeom prst="roundRect">
          <a:avLst>
            <a:gd name="adj" fmla="val 5000"/>
          </a:avLst>
        </a:prstGeom>
        <a:solidFill>
          <a:schemeClr val="accent2">
            <a:shade val="80000"/>
            <a:hueOff val="0"/>
            <a:satOff val="-14010"/>
            <a:lumOff val="15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13157" rIns="146685" bIns="0" numCol="1" spcCol="1270" anchor="t" anchorCtr="0">
          <a:noAutofit/>
        </a:bodyPr>
        <a:lstStyle/>
        <a:p>
          <a:pPr marL="0" lvl="0" indent="0" algn="r" defTabSz="1466850">
            <a:lnSpc>
              <a:spcPct val="90000"/>
            </a:lnSpc>
            <a:spcBef>
              <a:spcPct val="0"/>
            </a:spcBef>
            <a:spcAft>
              <a:spcPct val="35000"/>
            </a:spcAft>
            <a:buNone/>
          </a:pPr>
          <a:r>
            <a:rPr lang="en-US" sz="3300" kern="1200" dirty="0">
              <a:latin typeface="Arial"/>
            </a:rPr>
            <a:t>Computation</a:t>
          </a:r>
          <a:endParaRPr lang="en-US" sz="3300" kern="1200" dirty="0"/>
        </a:p>
      </dsp:txBody>
      <dsp:txXfrm rot="16200000">
        <a:off x="1827682" y="2237324"/>
        <a:ext cx="2795940" cy="568280"/>
      </dsp:txXfrm>
    </dsp:sp>
    <dsp:sp modelId="{1C4BC858-3AB2-4C71-B3A5-3D7F2F18007C}">
      <dsp:nvSpPr>
        <dsp:cNvPr id="0" name=""/>
        <dsp:cNvSpPr/>
      </dsp:nvSpPr>
      <dsp:spPr>
        <a:xfrm rot="5400000">
          <a:off x="2705050" y="3834857"/>
          <a:ext cx="501337" cy="426210"/>
        </a:xfrm>
        <a:prstGeom prst="flowChartExtra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B078253-5D03-497D-AE5E-32094F6D7A8E}">
      <dsp:nvSpPr>
        <dsp:cNvPr id="0" name=""/>
        <dsp:cNvSpPr/>
      </dsp:nvSpPr>
      <dsp:spPr>
        <a:xfrm>
          <a:off x="3509793" y="1123494"/>
          <a:ext cx="2116845" cy="3409683"/>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rtl="0">
            <a:lnSpc>
              <a:spcPct val="90000"/>
            </a:lnSpc>
            <a:spcBef>
              <a:spcPct val="0"/>
            </a:spcBef>
            <a:spcAft>
              <a:spcPct val="35000"/>
            </a:spcAft>
            <a:buNone/>
          </a:pPr>
          <a:r>
            <a:rPr lang="en-US" sz="1700" kern="1200" dirty="0">
              <a:latin typeface="Arial"/>
            </a:rPr>
            <a:t>-Centroid of each census block geography used as input locations for search</a:t>
          </a:r>
        </a:p>
        <a:p>
          <a:pPr marL="0" lvl="0" indent="0" algn="l" defTabSz="755650">
            <a:lnSpc>
              <a:spcPct val="90000"/>
            </a:lnSpc>
            <a:spcBef>
              <a:spcPct val="0"/>
            </a:spcBef>
            <a:spcAft>
              <a:spcPct val="35000"/>
            </a:spcAft>
            <a:buNone/>
          </a:pPr>
          <a:r>
            <a:rPr lang="en-US" sz="1700" kern="1200" dirty="0">
              <a:latin typeface="Arial"/>
            </a:rPr>
            <a:t>-Normalization of the metrics </a:t>
          </a:r>
          <a:endParaRPr lang="en-US" sz="1700" kern="1200" dirty="0"/>
        </a:p>
        <a:p>
          <a:pPr marL="0" lvl="0" indent="0" algn="l" defTabSz="755650" rtl="0">
            <a:lnSpc>
              <a:spcPct val="90000"/>
            </a:lnSpc>
            <a:spcBef>
              <a:spcPct val="0"/>
            </a:spcBef>
            <a:spcAft>
              <a:spcPct val="35000"/>
            </a:spcAft>
            <a:buNone/>
          </a:pPr>
          <a:r>
            <a:rPr lang="en-US" sz="1700" kern="1200" dirty="0">
              <a:latin typeface="Arial"/>
            </a:rPr>
            <a:t>-Overall score computed via  user preferences</a:t>
          </a:r>
        </a:p>
      </dsp:txBody>
      <dsp:txXfrm>
        <a:off x="3509793" y="1123494"/>
        <a:ext cx="2116845" cy="3409683"/>
      </dsp:txXfrm>
    </dsp:sp>
    <dsp:sp modelId="{0B856C5D-7B40-4071-87AF-2E1C2C94F644}">
      <dsp:nvSpPr>
        <dsp:cNvPr id="0" name=""/>
        <dsp:cNvSpPr/>
      </dsp:nvSpPr>
      <dsp:spPr>
        <a:xfrm>
          <a:off x="5882364" y="1123494"/>
          <a:ext cx="2841403" cy="3409683"/>
        </a:xfrm>
        <a:prstGeom prst="roundRect">
          <a:avLst>
            <a:gd name="adj" fmla="val 5000"/>
          </a:avLst>
        </a:prstGeom>
        <a:solidFill>
          <a:schemeClr val="accent2">
            <a:shade val="80000"/>
            <a:hueOff val="0"/>
            <a:satOff val="-28019"/>
            <a:lumOff val="31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13157" rIns="146685" bIns="0" numCol="1" spcCol="1270" anchor="t" anchorCtr="0">
          <a:noAutofit/>
        </a:bodyPr>
        <a:lstStyle/>
        <a:p>
          <a:pPr marL="0" lvl="0" indent="0" algn="r" defTabSz="1466850">
            <a:lnSpc>
              <a:spcPct val="90000"/>
            </a:lnSpc>
            <a:spcBef>
              <a:spcPct val="0"/>
            </a:spcBef>
            <a:spcAft>
              <a:spcPct val="35000"/>
            </a:spcAft>
            <a:buNone/>
          </a:pPr>
          <a:r>
            <a:rPr lang="en-US" sz="3300" kern="1200" dirty="0">
              <a:latin typeface="Arial"/>
            </a:rPr>
            <a:t>Visualization</a:t>
          </a:r>
          <a:endParaRPr lang="en-US" sz="3300" kern="1200" dirty="0"/>
        </a:p>
      </dsp:txBody>
      <dsp:txXfrm rot="16200000">
        <a:off x="4768534" y="2237324"/>
        <a:ext cx="2795940" cy="568280"/>
      </dsp:txXfrm>
    </dsp:sp>
    <dsp:sp modelId="{B3673C0E-2EA4-4F62-ABD0-37B0068246CB}">
      <dsp:nvSpPr>
        <dsp:cNvPr id="0" name=""/>
        <dsp:cNvSpPr/>
      </dsp:nvSpPr>
      <dsp:spPr>
        <a:xfrm rot="5400000">
          <a:off x="5645902" y="3834857"/>
          <a:ext cx="501337" cy="426210"/>
        </a:xfrm>
        <a:prstGeom prst="flowChartExtract">
          <a:avLst/>
        </a:prstGeom>
        <a:solidFill>
          <a:schemeClr val="lt1">
            <a:hueOff val="0"/>
            <a:satOff val="0"/>
            <a:lumOff val="0"/>
            <a:alphaOff val="0"/>
          </a:schemeClr>
        </a:solidFill>
        <a:ln w="25400" cap="flat" cmpd="sng" algn="ctr">
          <a:solidFill>
            <a:schemeClr val="accent2">
              <a:shade val="80000"/>
              <a:hueOff val="0"/>
              <a:satOff val="-28019"/>
              <a:lumOff val="31752"/>
              <a:alphaOff val="0"/>
            </a:schemeClr>
          </a:solidFill>
          <a:prstDash val="solid"/>
        </a:ln>
        <a:effectLst/>
      </dsp:spPr>
      <dsp:style>
        <a:lnRef idx="2">
          <a:scrgbClr r="0" g="0" b="0"/>
        </a:lnRef>
        <a:fillRef idx="1">
          <a:scrgbClr r="0" g="0" b="0"/>
        </a:fillRef>
        <a:effectRef idx="0">
          <a:scrgbClr r="0" g="0" b="0"/>
        </a:effectRef>
        <a:fontRef idx="minor"/>
      </dsp:style>
    </dsp:sp>
    <dsp:sp modelId="{4CB4AB19-A698-4540-9A8D-BA86C5AFAC75}">
      <dsp:nvSpPr>
        <dsp:cNvPr id="0" name=""/>
        <dsp:cNvSpPr/>
      </dsp:nvSpPr>
      <dsp:spPr>
        <a:xfrm>
          <a:off x="6450645" y="1123494"/>
          <a:ext cx="2116845" cy="3409683"/>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marL="0" lvl="0" indent="0" algn="l" defTabSz="755650" rtl="0">
            <a:lnSpc>
              <a:spcPct val="90000"/>
            </a:lnSpc>
            <a:spcBef>
              <a:spcPct val="0"/>
            </a:spcBef>
            <a:spcAft>
              <a:spcPct val="35000"/>
            </a:spcAft>
            <a:buNone/>
          </a:pPr>
          <a:r>
            <a:rPr lang="en-US" sz="1700" kern="1200" dirty="0">
              <a:latin typeface="Arial"/>
            </a:rPr>
            <a:t>-Brute force comparison of top locations within 18nm of duty location grid</a:t>
          </a:r>
        </a:p>
        <a:p>
          <a:pPr marL="0" lvl="0" indent="0" algn="l" defTabSz="755650">
            <a:lnSpc>
              <a:spcPct val="90000"/>
            </a:lnSpc>
            <a:spcBef>
              <a:spcPct val="0"/>
            </a:spcBef>
            <a:spcAft>
              <a:spcPct val="35000"/>
            </a:spcAft>
            <a:buNone/>
          </a:pPr>
          <a:endParaRPr lang="en-US" sz="1700" kern="1200" dirty="0">
            <a:latin typeface="Arial"/>
          </a:endParaRPr>
        </a:p>
        <a:p>
          <a:pPr marL="0" lvl="0" indent="0" algn="l" defTabSz="755650">
            <a:lnSpc>
              <a:spcPct val="90000"/>
            </a:lnSpc>
            <a:spcBef>
              <a:spcPct val="0"/>
            </a:spcBef>
            <a:spcAft>
              <a:spcPct val="35000"/>
            </a:spcAft>
            <a:buNone/>
          </a:pPr>
          <a:r>
            <a:rPr lang="en-US" sz="1700" kern="1200" dirty="0">
              <a:latin typeface="Arial"/>
            </a:rPr>
            <a:t>-Param package leveraged to handle inputs and user preferences</a:t>
          </a:r>
          <a:endParaRPr lang="en-US" sz="1700" kern="1200" dirty="0"/>
        </a:p>
        <a:p>
          <a:pPr marL="0" lvl="0" indent="0" algn="l" defTabSz="755650" rtl="0">
            <a:lnSpc>
              <a:spcPct val="90000"/>
            </a:lnSpc>
            <a:spcBef>
              <a:spcPct val="0"/>
            </a:spcBef>
            <a:spcAft>
              <a:spcPct val="35000"/>
            </a:spcAft>
            <a:buNone/>
          </a:pPr>
          <a:endParaRPr lang="en-US" sz="1700" kern="1200" dirty="0">
            <a:latin typeface="Arial"/>
          </a:endParaRPr>
        </a:p>
        <a:p>
          <a:pPr marL="0" lvl="0" indent="0" algn="l" defTabSz="755650">
            <a:lnSpc>
              <a:spcPct val="90000"/>
            </a:lnSpc>
            <a:spcBef>
              <a:spcPct val="0"/>
            </a:spcBef>
            <a:spcAft>
              <a:spcPct val="35000"/>
            </a:spcAft>
            <a:buNone/>
          </a:pPr>
          <a:r>
            <a:rPr lang="en-US" sz="1700" kern="1200" dirty="0">
              <a:latin typeface="Arial"/>
            </a:rPr>
            <a:t>-Dynamically refresh Folium map based on user inputs</a:t>
          </a:r>
          <a:endParaRPr lang="en-US" sz="1700" kern="1200" dirty="0"/>
        </a:p>
      </dsp:txBody>
      <dsp:txXfrm>
        <a:off x="6450645" y="1123494"/>
        <a:ext cx="2116845" cy="340968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FE861C-486B-4E18-A0E9-A790238A915C}" type="datetimeFigureOut">
              <a:rPr lang="en-US" smtClean="0"/>
              <a:t>3/8/2023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811066-0135-4CAA-8AD4-89A97190AC0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F0F2D43-A7D3-0442-B5DF-409AA8143082}"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43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33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95C5DDF-CC51-4149-928B-31913B6B6180}"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53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7133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95C5DDF-CC51-4149-928B-31913B6B6180}"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53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53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55318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pPr marL="0" indent="0">
              <a:buFontTx/>
              <a:buNone/>
            </a:pPr>
            <a:r>
              <a:rPr lang="en-US" sz="1800" b="0" i="0" u="none" strike="noStrike" baseline="0" dirty="0">
                <a:solidFill>
                  <a:srgbClr val="000000"/>
                </a:solidFill>
                <a:latin typeface="Times New Roman" panose="02020603050405020304" pitchFamily="18" charset="0"/>
              </a:rPr>
              <a:t>Optimistic view: ran TEST for seven days assuming good weather conditions and compared the number of scheduled events to those scheduled manually for each day</a:t>
            </a:r>
          </a:p>
          <a:p>
            <a:pPr marL="0" indent="0">
              <a:buFontTx/>
              <a:buNone/>
            </a:pPr>
            <a:endParaRPr lang="en-US" sz="1800" b="0" i="0" u="none" strike="noStrike" baseline="0" dirty="0">
              <a:solidFill>
                <a:srgbClr val="000000"/>
              </a:solidFill>
              <a:latin typeface="Times New Roman" panose="02020603050405020304" pitchFamily="18" charset="0"/>
            </a:endParaRPr>
          </a:p>
          <a:p>
            <a:pPr marL="0" indent="0">
              <a:buFontTx/>
              <a:buNone/>
            </a:pPr>
            <a:r>
              <a:rPr lang="en-US" sz="1800" b="0" i="0" u="none" strike="noStrike" baseline="0" dirty="0">
                <a:solidFill>
                  <a:srgbClr val="000000"/>
                </a:solidFill>
                <a:latin typeface="Times New Roman" panose="02020603050405020304" pitchFamily="18" charset="0"/>
              </a:rPr>
              <a:t>Ran TEST for seven days with known bad weather and compared the results to the manually created schedules. Made instructors unavailable during bad weather times as a simulation.</a:t>
            </a:r>
          </a:p>
          <a:p>
            <a:pPr marL="0" indent="0">
              <a:buFontTx/>
              <a:buNone/>
            </a:pPr>
            <a:endParaRPr lang="en-US" sz="1800" b="0" i="0" u="none" strike="noStrike" baseline="0" dirty="0">
              <a:solidFill>
                <a:srgbClr val="000000"/>
              </a:solidFill>
              <a:latin typeface="Times New Roman" panose="02020603050405020304" pitchFamily="18" charset="0"/>
            </a:endParaRPr>
          </a:p>
          <a:p>
            <a:pPr marL="0" indent="0">
              <a:buFontTx/>
              <a:buNone/>
            </a:pPr>
            <a:r>
              <a:rPr lang="en-US" sz="1800" b="0" i="0" u="none" strike="noStrike" baseline="0" dirty="0">
                <a:solidFill>
                  <a:srgbClr val="000000"/>
                </a:solidFill>
                <a:latin typeface="Times New Roman" panose="02020603050405020304" pitchFamily="18" charset="0"/>
              </a:rPr>
              <a:t>TEST schedules a much larger number of simulator events compared to the manually created schedules. However, SKEDSOs do not have the simulator instructors’ availability days in advance. Schedules from TEST will need to be coordinated daily with the simulator instructors to ensure there are available instructors. </a:t>
            </a:r>
          </a:p>
          <a:p>
            <a:pPr marL="0" indent="0">
              <a:buFontTx/>
              <a:buNone/>
            </a:pPr>
            <a:endParaRPr lang="en-US" sz="1800" b="0" i="0" u="none" strike="noStrike" baseline="0" dirty="0">
              <a:solidFill>
                <a:srgbClr val="000000"/>
              </a:solidFill>
              <a:latin typeface="Times New Roman" panose="02020603050405020304" pitchFamily="18" charset="0"/>
            </a:endParaRPr>
          </a:p>
          <a:p>
            <a:pPr marL="0" indent="0">
              <a:buFontTx/>
              <a:buNone/>
            </a:pPr>
            <a:r>
              <a:rPr lang="en-US" sz="1800" b="0" i="0" u="none" strike="noStrike" baseline="0" dirty="0">
                <a:solidFill>
                  <a:srgbClr val="000000"/>
                </a:solidFill>
                <a:latin typeface="Times New Roman" panose="02020603050405020304" pitchFamily="18" charset="0"/>
              </a:rPr>
              <a:t>Even when subject to the same bad weather periods as the manually created schedules, TEST schedules almost the same number of flight events as VT-22. </a:t>
            </a:r>
          </a:p>
          <a:p>
            <a:pPr marL="0" indent="0">
              <a:buFontTx/>
              <a:buNone/>
            </a:pPr>
            <a:r>
              <a:rPr lang="en-US" sz="1800" b="0" i="0" u="none" strike="noStrike" baseline="0" dirty="0">
                <a:solidFill>
                  <a:srgbClr val="000000"/>
                </a:solidFill>
                <a:latin typeface="Times New Roman" panose="02020603050405020304" pitchFamily="18" charset="0"/>
              </a:rPr>
              <a:t>TEST is on par with the manually created schedules for scheduling flight events when there is perfect weather but is able to schedule significantly more lecture and simulator events. </a:t>
            </a:r>
          </a:p>
          <a:p>
            <a:pPr marL="0" indent="0">
              <a:buFontTx/>
              <a:buNone/>
            </a:pPr>
            <a:r>
              <a:rPr lang="en-US" sz="1800" b="0" i="0" u="none" strike="noStrike" baseline="0" dirty="0">
                <a:solidFill>
                  <a:srgbClr val="000000"/>
                </a:solidFill>
                <a:latin typeface="Times New Roman" panose="02020603050405020304" pitchFamily="18" charset="0"/>
              </a:rPr>
              <a:t>Compared to how many flights were actually completed, TEST schedules slightly more flight events in the days that were unaffected by weather and significantly more flights in total. It could be argued that TEST has an unfair advantage due to the fact that it has perfect weather information and knows exactly which periods need to be blocked out. While this may slightly skew results, it shows the value of using weather forecasts to predict which periods may become unavailable for flying so that simulator and lecture events can be more efficiently planned.</a:t>
            </a:r>
          </a:p>
          <a:p>
            <a:pPr marL="0" indent="0">
              <a:buFontTx/>
              <a:buNone/>
            </a:pPr>
            <a:endParaRPr lang="en-US" sz="1800" b="0" i="0" u="none" strike="noStrike" baseline="0" dirty="0">
              <a:solidFill>
                <a:srgbClr val="000000"/>
              </a:solidFill>
              <a:latin typeface="Times New Roman" panose="02020603050405020304" pitchFamily="18" charset="0"/>
            </a:endParaRP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DF811066-0135-4CAA-8AD4-89A97190AC00}" type="slidenum">
              <a:rPr lang="en-US" smtClean="0"/>
              <a:t>4</a:t>
            </a:fld>
            <a:endParaRPr lang="en-US"/>
          </a:p>
        </p:txBody>
      </p:sp>
    </p:spTree>
    <p:extLst>
      <p:ext uri="{BB962C8B-B14F-4D97-AF65-F5344CB8AC3E}">
        <p14:creationId xmlns:p14="http://schemas.microsoft.com/office/powerpoint/2010/main" val="828983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95C5DDF-CC51-4149-928B-31913B6B6180}"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53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5363" name="Rectangle 3"/>
          <p:cNvSpPr>
            <a:spLocks noGrp="1" noChangeArrowheads="1"/>
          </p:cNvSpPr>
          <p:nvPr>
            <p:ph type="body" idx="1"/>
          </p:nvPr>
        </p:nvSpPr>
        <p:spPr/>
        <p:txBody>
          <a:bodyPr/>
          <a:lstStyle/>
          <a:p>
            <a:r>
              <a:rPr lang="en-US" dirty="0">
                <a:cs typeface="+mn-lt"/>
              </a:rPr>
              <a:t>Mean of school scores = 5.19</a:t>
            </a:r>
            <a:br>
              <a:rPr lang="en-US" dirty="0">
                <a:cs typeface="+mn-lt"/>
              </a:rPr>
            </a:br>
            <a:endParaRPr lang="en-US" dirty="0"/>
          </a:p>
        </p:txBody>
      </p:sp>
    </p:spTree>
    <p:extLst>
      <p:ext uri="{BB962C8B-B14F-4D97-AF65-F5344CB8AC3E}">
        <p14:creationId xmlns:p14="http://schemas.microsoft.com/office/powerpoint/2010/main" val="217133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Times New Roman" panose="02020603050405020304" pitchFamily="18" charset="0"/>
              </a:rPr>
              <a:t>September 30, 2019 to October 4, 2019, VT-22 schedulers provided:</a:t>
            </a:r>
          </a:p>
          <a:p>
            <a:r>
              <a:rPr lang="en-US" sz="1800" b="0" i="0" u="none" strike="noStrike" baseline="0" dirty="0">
                <a:solidFill>
                  <a:srgbClr val="000000"/>
                </a:solidFill>
                <a:latin typeface="Times New Roman" panose="02020603050405020304" pitchFamily="18" charset="0"/>
              </a:rPr>
              <a:t>-instructor qualifications</a:t>
            </a:r>
          </a:p>
          <a:p>
            <a:r>
              <a:rPr lang="en-US" sz="1800" b="0" i="0" u="none" strike="noStrike" baseline="0" dirty="0">
                <a:solidFill>
                  <a:srgbClr val="000000"/>
                </a:solidFill>
                <a:latin typeface="Times New Roman" panose="02020603050405020304" pitchFamily="18" charset="0"/>
              </a:rPr>
              <a:t>-student non-availabilities</a:t>
            </a:r>
          </a:p>
          <a:p>
            <a:r>
              <a:rPr lang="en-US" sz="1800" b="0" i="0" u="none" strike="noStrike" baseline="0" dirty="0">
                <a:solidFill>
                  <a:srgbClr val="000000"/>
                </a:solidFill>
                <a:latin typeface="Times New Roman" panose="02020603050405020304" pitchFamily="18" charset="0"/>
              </a:rPr>
              <a:t>-instructor non-availabilities</a:t>
            </a:r>
          </a:p>
          <a:p>
            <a:r>
              <a:rPr lang="en-US" sz="1800" b="0" i="0" u="none" strike="noStrike" baseline="0" dirty="0">
                <a:solidFill>
                  <a:srgbClr val="000000"/>
                </a:solidFill>
                <a:latin typeface="Times New Roman" panose="02020603050405020304" pitchFamily="18" charset="0"/>
              </a:rPr>
              <a:t>-students’ current completion</a:t>
            </a:r>
          </a:p>
          <a:p>
            <a:r>
              <a:rPr lang="en-US" sz="1800" b="0" i="0" u="none" strike="noStrike" baseline="0" dirty="0">
                <a:solidFill>
                  <a:srgbClr val="000000"/>
                </a:solidFill>
                <a:latin typeface="Times New Roman" panose="02020603050405020304" pitchFamily="18" charset="0"/>
              </a:rPr>
              <a:t>-and jet availability. </a:t>
            </a:r>
          </a:p>
          <a:p>
            <a:r>
              <a:rPr lang="en-US" sz="1800" b="0" i="0" u="none" strike="noStrike" baseline="0" dirty="0">
                <a:solidFill>
                  <a:srgbClr val="000000"/>
                </a:solidFill>
                <a:latin typeface="Times New Roman" panose="02020603050405020304" pitchFamily="18" charset="0"/>
              </a:rPr>
              <a:t>We used the manually created schedules posted online to determine which events we desire each student to complete by the end of the week.</a:t>
            </a:r>
          </a:p>
          <a:p>
            <a:r>
              <a:rPr lang="en-US" sz="1800" b="0" i="0" u="none" strike="noStrike" baseline="0" dirty="0">
                <a:solidFill>
                  <a:srgbClr val="000000"/>
                </a:solidFill>
                <a:latin typeface="Times New Roman" panose="02020603050405020304" pitchFamily="18" charset="0"/>
              </a:rPr>
              <a:t>VT-22 also provided the schedule results which includes the flight events, simulator events, and lecture events that were or were not completed each day.</a:t>
            </a:r>
            <a:endParaRPr lang="en-US" dirty="0"/>
          </a:p>
        </p:txBody>
      </p:sp>
      <p:sp>
        <p:nvSpPr>
          <p:cNvPr id="4" name="Slide Number Placeholder 3"/>
          <p:cNvSpPr>
            <a:spLocks noGrp="1"/>
          </p:cNvSpPr>
          <p:nvPr>
            <p:ph type="sldNum" sz="quarter" idx="5"/>
          </p:nvPr>
        </p:nvSpPr>
        <p:spPr/>
        <p:txBody>
          <a:bodyPr/>
          <a:lstStyle/>
          <a:p>
            <a:fld id="{DF811066-0135-4CAA-8AD4-89A97190AC00}" type="slidenum">
              <a:rPr lang="en-US" smtClean="0"/>
              <a:t>6</a:t>
            </a:fld>
            <a:endParaRPr lang="en-US"/>
          </a:p>
        </p:txBody>
      </p:sp>
    </p:spTree>
    <p:extLst>
      <p:ext uri="{BB962C8B-B14F-4D97-AF65-F5344CB8AC3E}">
        <p14:creationId xmlns:p14="http://schemas.microsoft.com/office/powerpoint/2010/main" val="4215460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95C5DDF-CC51-4149-928B-31913B6B6180}"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53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6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17133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Times New Roman" panose="02020603050405020304" pitchFamily="18" charset="0"/>
              </a:rPr>
              <a:t>Out-and-in events are pairs of events in which the same instructor and student combination flies together. Instructor-student pairs can complete these events consecutively as long as the crew remains the same. Completing two events as an out-and-in event truncates the brief of the second flight by up to two hours so the entire pre-brief and debrief for both flights is approximately three hours </a:t>
            </a:r>
          </a:p>
          <a:p>
            <a:endParaRPr lang="en-US"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TIMS provides non-availabilities for all students and instructors, which includes crew rest and squadron meetings </a:t>
            </a:r>
            <a:endParaRPr lang="en-US" dirty="0"/>
          </a:p>
        </p:txBody>
      </p:sp>
      <p:sp>
        <p:nvSpPr>
          <p:cNvPr id="4" name="Slide Number Placeholder 3"/>
          <p:cNvSpPr>
            <a:spLocks noGrp="1"/>
          </p:cNvSpPr>
          <p:nvPr>
            <p:ph type="sldNum" sz="quarter" idx="5"/>
          </p:nvPr>
        </p:nvSpPr>
        <p:spPr/>
        <p:txBody>
          <a:bodyPr/>
          <a:lstStyle/>
          <a:p>
            <a:fld id="{DF811066-0135-4CAA-8AD4-89A97190AC00}" type="slidenum">
              <a:rPr lang="en-US" smtClean="0"/>
              <a:t>8</a:t>
            </a:fld>
            <a:endParaRPr lang="en-US"/>
          </a:p>
        </p:txBody>
      </p:sp>
    </p:spTree>
    <p:extLst>
      <p:ext uri="{BB962C8B-B14F-4D97-AF65-F5344CB8AC3E}">
        <p14:creationId xmlns:p14="http://schemas.microsoft.com/office/powerpoint/2010/main" val="25301881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5" descr="nps_ppt_mas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8" y="0"/>
            <a:ext cx="9139237"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8339" name="Rectangle 3"/>
          <p:cNvSpPr>
            <a:spLocks noGrp="1" noChangeArrowheads="1"/>
          </p:cNvSpPr>
          <p:nvPr>
            <p:ph type="ctrTitle"/>
          </p:nvPr>
        </p:nvSpPr>
        <p:spPr>
          <a:xfrm>
            <a:off x="990600" y="2667000"/>
            <a:ext cx="7620000" cy="1143000"/>
          </a:xfrm>
        </p:spPr>
        <p:txBody>
          <a:bodyPr/>
          <a:lstStyle>
            <a:lvl1pPr algn="ctr">
              <a:defRPr sz="3600"/>
            </a:lvl1pPr>
          </a:lstStyle>
          <a:p>
            <a:r>
              <a:rPr lang="en-US"/>
              <a:t>Click to edit Master title style</a:t>
            </a:r>
          </a:p>
        </p:txBody>
      </p:sp>
      <p:sp>
        <p:nvSpPr>
          <p:cNvPr id="1038340" name="Rectangle 4"/>
          <p:cNvSpPr>
            <a:spLocks noGrp="1" noChangeArrowheads="1"/>
          </p:cNvSpPr>
          <p:nvPr>
            <p:ph type="subTitle" idx="1"/>
          </p:nvPr>
        </p:nvSpPr>
        <p:spPr>
          <a:xfrm>
            <a:off x="1600200" y="4114800"/>
            <a:ext cx="6400800" cy="1752600"/>
          </a:xfrm>
        </p:spPr>
        <p:txBody>
          <a:bodyPr/>
          <a:lstStyle>
            <a:lvl1pPr marL="0" indent="0" algn="ctr">
              <a:buFontTx/>
              <a:buNone/>
              <a:defRPr sz="2800">
                <a:solidFill>
                  <a:schemeClr val="bg1"/>
                </a:solidFill>
              </a:defRPr>
            </a:lvl1pPr>
          </a:lstStyle>
          <a:p>
            <a:r>
              <a:rPr lang="en-US"/>
              <a:t>Click to edit Master subtitle style</a:t>
            </a:r>
          </a:p>
        </p:txBody>
      </p:sp>
    </p:spTree>
    <p:extLst>
      <p:ext uri="{BB962C8B-B14F-4D97-AF65-F5344CB8AC3E}">
        <p14:creationId xmlns:p14="http://schemas.microsoft.com/office/powerpoint/2010/main" val="1212233679"/>
      </p:ext>
    </p:extLst>
  </p:cSld>
  <p:clrMapOvr>
    <a:masterClrMapping/>
  </p:clrMapOvr>
  <p:transition spd="med">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baseline="0"/>
            </a:lvl1pPr>
          </a:lstStyle>
          <a:p>
            <a:r>
              <a:rPr lang="en-US"/>
              <a:t>Click to edit Master title style</a:t>
            </a:r>
            <a:endParaRPr lang="en-US" dirty="0"/>
          </a:p>
        </p:txBody>
      </p:sp>
      <p:sp>
        <p:nvSpPr>
          <p:cNvPr id="3" name="Content Placeholder 2"/>
          <p:cNvSpPr>
            <a:spLocks noGrp="1"/>
          </p:cNvSpPr>
          <p:nvPr>
            <p:ph idx="1"/>
          </p:nvPr>
        </p:nvSpPr>
        <p:spPr>
          <a:xfrm>
            <a:off x="762000" y="1295400"/>
            <a:ext cx="79248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97532FD7-F9E5-1545-8A05-4A5103D12954}" type="slidenum">
              <a:rPr lang="en-US" smtClean="0"/>
              <a:pPr/>
              <a:t>‹#›</a:t>
            </a:fld>
            <a:endParaRPr lang="en-US"/>
          </a:p>
        </p:txBody>
      </p:sp>
    </p:spTree>
    <p:extLst>
      <p:ext uri="{BB962C8B-B14F-4D97-AF65-F5344CB8AC3E}">
        <p14:creationId xmlns:p14="http://schemas.microsoft.com/office/powerpoint/2010/main" val="941349621"/>
      </p:ext>
    </p:extLst>
  </p:cSld>
  <p:clrMapOvr>
    <a:masterClrMapping/>
  </p:clrMapOvr>
  <p:transition spd="med">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69F0F139-7453-254B-B08C-54CD37FB856F}" type="slidenum">
              <a:rPr lang="en-US" smtClean="0"/>
              <a:pPr/>
              <a:t>‹#›</a:t>
            </a:fld>
            <a:endParaRPr lang="en-US"/>
          </a:p>
        </p:txBody>
      </p:sp>
    </p:spTree>
    <p:extLst>
      <p:ext uri="{BB962C8B-B14F-4D97-AF65-F5344CB8AC3E}">
        <p14:creationId xmlns:p14="http://schemas.microsoft.com/office/powerpoint/2010/main" val="3544655820"/>
      </p:ext>
    </p:extLst>
  </p:cSld>
  <p:clrMapOvr>
    <a:masterClrMapping/>
  </p:clrMapOvr>
  <p:transition spd="med">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CEA20D1C-605F-184D-8A71-7231BB486A2F}" type="slidenum">
              <a:rPr lang="en-US" smtClean="0"/>
              <a:pPr/>
              <a:t>‹#›</a:t>
            </a:fld>
            <a:endParaRPr lang="en-US"/>
          </a:p>
        </p:txBody>
      </p:sp>
    </p:spTree>
    <p:extLst>
      <p:ext uri="{BB962C8B-B14F-4D97-AF65-F5344CB8AC3E}">
        <p14:creationId xmlns:p14="http://schemas.microsoft.com/office/powerpoint/2010/main" val="2712978741"/>
      </p:ext>
    </p:extLst>
  </p:cSld>
  <p:clrMapOvr>
    <a:masterClrMapping/>
  </p:clrMapOvr>
  <p:transition spd="med">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FEE112CA-D3C9-DA48-935A-B140F733B85B}" type="slidenum">
              <a:rPr lang="en-US" smtClean="0"/>
              <a:pPr/>
              <a:t>‹#›</a:t>
            </a:fld>
            <a:endParaRPr lang="en-US"/>
          </a:p>
        </p:txBody>
      </p:sp>
    </p:spTree>
    <p:extLst>
      <p:ext uri="{BB962C8B-B14F-4D97-AF65-F5344CB8AC3E}">
        <p14:creationId xmlns:p14="http://schemas.microsoft.com/office/powerpoint/2010/main" val="368990067"/>
      </p:ext>
    </p:extLst>
  </p:cSld>
  <p:clrMapOvr>
    <a:masterClrMapping/>
  </p:clrMapOvr>
  <p:transition spd="med">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ED14E506-1BA4-1A41-AFA3-0524223FC306}" type="slidenum">
              <a:rPr lang="en-US" smtClean="0"/>
              <a:pPr/>
              <a:t>‹#›</a:t>
            </a:fld>
            <a:endParaRPr lang="en-US"/>
          </a:p>
        </p:txBody>
      </p:sp>
    </p:spTree>
    <p:extLst>
      <p:ext uri="{BB962C8B-B14F-4D97-AF65-F5344CB8AC3E}">
        <p14:creationId xmlns:p14="http://schemas.microsoft.com/office/powerpoint/2010/main" val="881482962"/>
      </p:ext>
    </p:extLst>
  </p:cSld>
  <p:clrMapOvr>
    <a:masterClrMapping/>
  </p:clrMapOvr>
  <p:transition spd="med">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66D10EDF-224A-5F49-A850-1727D7929342}" type="slidenum">
              <a:rPr lang="en-US" smtClean="0"/>
              <a:pPr/>
              <a:t>‹#›</a:t>
            </a:fld>
            <a:endParaRPr lang="en-US"/>
          </a:p>
        </p:txBody>
      </p:sp>
    </p:spTree>
    <p:extLst>
      <p:ext uri="{BB962C8B-B14F-4D97-AF65-F5344CB8AC3E}">
        <p14:creationId xmlns:p14="http://schemas.microsoft.com/office/powerpoint/2010/main" val="607847323"/>
      </p:ext>
    </p:extLst>
  </p:cSld>
  <p:clrMapOvr>
    <a:masterClrMapping/>
  </p:clrMapOvr>
  <p:transition spd="med">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89657FD7-3831-F040-AC97-D224BAEC9CFA}" type="slidenum">
              <a:rPr lang="en-US" smtClean="0"/>
              <a:pPr/>
              <a:t>‹#›</a:t>
            </a:fld>
            <a:endParaRPr lang="en-US"/>
          </a:p>
        </p:txBody>
      </p:sp>
    </p:spTree>
    <p:extLst>
      <p:ext uri="{BB962C8B-B14F-4D97-AF65-F5344CB8AC3E}">
        <p14:creationId xmlns:p14="http://schemas.microsoft.com/office/powerpoint/2010/main" val="3657613974"/>
      </p:ext>
    </p:extLst>
  </p:cSld>
  <p:clrMapOvr>
    <a:masterClrMapping/>
  </p:clrMapOvr>
  <p:transition spd="med">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0FAF0C5-0784-D14F-876D-2979A2EE1F00}" type="slidenum">
              <a:rPr lang="en-US" smtClean="0"/>
              <a:pPr/>
              <a:t>‹#›</a:t>
            </a:fld>
            <a:endParaRPr lang="en-US"/>
          </a:p>
        </p:txBody>
      </p:sp>
    </p:spTree>
    <p:extLst>
      <p:ext uri="{BB962C8B-B14F-4D97-AF65-F5344CB8AC3E}">
        <p14:creationId xmlns:p14="http://schemas.microsoft.com/office/powerpoint/2010/main" val="2905780137"/>
      </p:ext>
    </p:extLst>
  </p:cSld>
  <p:clrMapOvr>
    <a:masterClrMapping/>
  </p:clrMapOvr>
  <p:transition spd="med">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11185953-A108-124A-B553-7E46C54A9436}" type="slidenum">
              <a:rPr lang="en-US" smtClean="0"/>
              <a:pPr/>
              <a:t>‹#›</a:t>
            </a:fld>
            <a:endParaRPr lang="en-US"/>
          </a:p>
        </p:txBody>
      </p:sp>
    </p:spTree>
    <p:extLst>
      <p:ext uri="{BB962C8B-B14F-4D97-AF65-F5344CB8AC3E}">
        <p14:creationId xmlns:p14="http://schemas.microsoft.com/office/powerpoint/2010/main" val="1435438882"/>
      </p:ext>
    </p:extLst>
  </p:cSld>
  <p:clrMapOvr>
    <a:masterClrMapping/>
  </p:clrMapOvr>
  <p:transition spd="med">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0"/>
            <a:ext cx="20955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0"/>
            <a:ext cx="613410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4F1BB53-E372-0B43-B9CF-AB538E9BFD63}" type="slidenum">
              <a:rPr lang="en-US" smtClean="0"/>
              <a:pPr/>
              <a:t>‹#›</a:t>
            </a:fld>
            <a:endParaRPr lang="en-US"/>
          </a:p>
        </p:txBody>
      </p:sp>
    </p:spTree>
    <p:extLst>
      <p:ext uri="{BB962C8B-B14F-4D97-AF65-F5344CB8AC3E}">
        <p14:creationId xmlns:p14="http://schemas.microsoft.com/office/powerpoint/2010/main" val="3016419449"/>
      </p:ext>
    </p:extLst>
  </p:cSld>
  <p:clrMapOvr>
    <a:masterClrMapping/>
  </p:clrMapOvr>
  <p:transition spd="med">
    <p:fade thruBlk="1"/>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1143000"/>
          </a:xfrm>
        </p:spPr>
        <p:txBody>
          <a:bodyPr/>
          <a:lstStyle/>
          <a:p>
            <a:r>
              <a:rPr lang="en-US"/>
              <a:t>Click to edit Master title style</a:t>
            </a:r>
          </a:p>
        </p:txBody>
      </p:sp>
      <p:sp>
        <p:nvSpPr>
          <p:cNvPr id="3" name="Text Placeholder 2"/>
          <p:cNvSpPr>
            <a:spLocks noGrp="1"/>
          </p:cNvSpPr>
          <p:nvPr>
            <p:ph type="body" sz="half" idx="1"/>
          </p:nvPr>
        </p:nvSpPr>
        <p:spPr>
          <a:xfrm>
            <a:off x="304800" y="1447800"/>
            <a:ext cx="42291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447800"/>
            <a:ext cx="42291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47"/>
          <p:cNvSpPr>
            <a:spLocks noGrp="1" noChangeArrowheads="1"/>
          </p:cNvSpPr>
          <p:nvPr>
            <p:ph type="dt" sz="half" idx="10"/>
          </p:nvPr>
        </p:nvSpPr>
        <p:spPr/>
        <p:txBody>
          <a:bodyPr/>
          <a:lstStyle>
            <a:lvl1pPr>
              <a:defRPr/>
            </a:lvl1pPr>
          </a:lstStyle>
          <a:p>
            <a:endParaRPr lang="en-US"/>
          </a:p>
        </p:txBody>
      </p:sp>
      <p:sp>
        <p:nvSpPr>
          <p:cNvPr id="6" name="Rectangle 1048"/>
          <p:cNvSpPr>
            <a:spLocks noGrp="1" noChangeArrowheads="1"/>
          </p:cNvSpPr>
          <p:nvPr>
            <p:ph type="ftr" sz="quarter" idx="11"/>
          </p:nvPr>
        </p:nvSpPr>
        <p:spPr/>
        <p:txBody>
          <a:bodyPr/>
          <a:lstStyle>
            <a:lvl1pPr>
              <a:defRPr/>
            </a:lvl1pPr>
          </a:lstStyle>
          <a:p>
            <a:endParaRPr lang="en-US"/>
          </a:p>
        </p:txBody>
      </p:sp>
      <p:sp>
        <p:nvSpPr>
          <p:cNvPr id="7" name="Rectangle 1049"/>
          <p:cNvSpPr>
            <a:spLocks noGrp="1" noChangeArrowheads="1"/>
          </p:cNvSpPr>
          <p:nvPr>
            <p:ph type="sldNum" sz="quarter" idx="12"/>
          </p:nvPr>
        </p:nvSpPr>
        <p:spPr/>
        <p:txBody>
          <a:bodyPr/>
          <a:lstStyle>
            <a:lvl1pPr>
              <a:defRPr/>
            </a:lvl1pPr>
          </a:lstStyle>
          <a:p>
            <a:fld id="{6782F31F-E86A-134E-894C-01093A4D11BE}" type="slidenum">
              <a:rPr lang="en-US" smtClean="0"/>
              <a:pPr/>
              <a:t>‹#›</a:t>
            </a:fld>
            <a:endParaRPr lang="en-US"/>
          </a:p>
        </p:txBody>
      </p:sp>
    </p:spTree>
    <p:extLst>
      <p:ext uri="{BB962C8B-B14F-4D97-AF65-F5344CB8AC3E}">
        <p14:creationId xmlns:p14="http://schemas.microsoft.com/office/powerpoint/2010/main" val="703816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lstStyle/>
          <a:p>
            <a:r>
              <a:rPr lang="en-US"/>
              <a:t>Click to edit Master title style</a:t>
            </a:r>
          </a:p>
        </p:txBody>
      </p:sp>
      <p:sp>
        <p:nvSpPr>
          <p:cNvPr id="3" name="Text Placeholder 2"/>
          <p:cNvSpPr>
            <a:spLocks noGrp="1"/>
          </p:cNvSpPr>
          <p:nvPr>
            <p:ph type="body" sz="half" idx="1"/>
          </p:nvPr>
        </p:nvSpPr>
        <p:spPr>
          <a:xfrm>
            <a:off x="457200" y="1295400"/>
            <a:ext cx="8229600" cy="23383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3786188"/>
            <a:ext cx="8229600" cy="2339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endParaRPr lang="en-US"/>
          </a:p>
        </p:txBody>
      </p:sp>
      <p:sp>
        <p:nvSpPr>
          <p:cNvPr id="6" name="Rectangle 5"/>
          <p:cNvSpPr>
            <a:spLocks noGrp="1" noChangeArrowheads="1"/>
          </p:cNvSpPr>
          <p:nvPr>
            <p:ph type="ftr" sz="quarter" idx="11"/>
          </p:nvPr>
        </p:nvSpPr>
        <p:spPr/>
        <p:txBody>
          <a:bodyPr/>
          <a:lstStyle>
            <a:lvl1pPr>
              <a:defRPr/>
            </a:lvl1pPr>
          </a:lstStyle>
          <a:p>
            <a:endParaRPr lang="en-US"/>
          </a:p>
        </p:txBody>
      </p:sp>
      <p:sp>
        <p:nvSpPr>
          <p:cNvPr id="7" name="Rectangle 6"/>
          <p:cNvSpPr>
            <a:spLocks noGrp="1" noChangeArrowheads="1"/>
          </p:cNvSpPr>
          <p:nvPr>
            <p:ph type="sldNum" sz="quarter" idx="12"/>
          </p:nvPr>
        </p:nvSpPr>
        <p:spPr/>
        <p:txBody>
          <a:bodyPr/>
          <a:lstStyle>
            <a:lvl1pPr>
              <a:defRPr/>
            </a:lvl1pPr>
          </a:lstStyle>
          <a:p>
            <a:fld id="{6782F31F-E86A-134E-894C-01093A4D11BE}" type="slidenum">
              <a:rPr lang="en-US" smtClean="0"/>
              <a:pPr/>
              <a:t>‹#›</a:t>
            </a:fld>
            <a:endParaRPr lang="en-US"/>
          </a:p>
        </p:txBody>
      </p:sp>
    </p:spTree>
    <p:extLst>
      <p:ext uri="{BB962C8B-B14F-4D97-AF65-F5344CB8AC3E}">
        <p14:creationId xmlns:p14="http://schemas.microsoft.com/office/powerpoint/2010/main" val="138965949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2530" name="Picture 11" descr="nps_ppt_slid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685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Rectangle 2"/>
          <p:cNvSpPr>
            <a:spLocks noGrp="1" noChangeArrowheads="1"/>
          </p:cNvSpPr>
          <p:nvPr>
            <p:ph type="title"/>
          </p:nvPr>
        </p:nvSpPr>
        <p:spPr bwMode="auto">
          <a:xfrm>
            <a:off x="2286000" y="0"/>
            <a:ext cx="6553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2532" name="Rectangle 3"/>
          <p:cNvSpPr>
            <a:spLocks noGrp="1" noChangeArrowheads="1"/>
          </p:cNvSpPr>
          <p:nvPr>
            <p:ph type="body" idx="1"/>
          </p:nvPr>
        </p:nvSpPr>
        <p:spPr bwMode="auto">
          <a:xfrm>
            <a:off x="609600" y="1295400"/>
            <a:ext cx="8077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defRPr sz="1400">
                <a:latin typeface="Arial" charset="0"/>
                <a:cs typeface="+mn-cs"/>
              </a:defRPr>
            </a:lvl1pPr>
          </a:lstStyle>
          <a:p>
            <a:endParaRPr lang="en-US"/>
          </a:p>
        </p:txBody>
      </p:sp>
      <p:sp>
        <p:nvSpPr>
          <p:cNvPr id="1029" name="Rectangle 5"/>
          <p:cNvSpPr>
            <a:spLocks noGrp="1" noChangeArrowheads="1"/>
          </p:cNvSpPr>
          <p:nvPr>
            <p:ph type="ftr" sz="quarter" idx="3"/>
          </p:nvPr>
        </p:nvSpPr>
        <p:spPr bwMode="auto">
          <a:xfrm>
            <a:off x="3352800" y="630555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sz="1400">
                <a:latin typeface="Arial" charset="0"/>
                <a:cs typeface="+mn-cs"/>
              </a:defRPr>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400">
                <a:latin typeface="Arial" charset="0"/>
                <a:cs typeface="+mn-cs"/>
              </a:defRPr>
            </a:lvl1pPr>
          </a:lstStyle>
          <a:p>
            <a:fld id="{6782F31F-E86A-134E-894C-01093A4D11BE}" type="slidenum">
              <a:rPr lang="en-US" smtClean="0"/>
              <a:pPr/>
              <a:t>‹#›</a:t>
            </a:fld>
            <a:endParaRPr lang="en-US"/>
          </a:p>
        </p:txBody>
      </p:sp>
    </p:spTree>
    <p:extLst>
      <p:ext uri="{BB962C8B-B14F-4D97-AF65-F5344CB8AC3E}">
        <p14:creationId xmlns:p14="http://schemas.microsoft.com/office/powerpoint/2010/main" val="38259962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p:fade thruBlk="1"/>
  </p:transition>
  <p:txStyles>
    <p:titleStyle>
      <a:lvl1pPr algn="r" rtl="0" eaLnBrk="1" fontAlgn="base" hangingPunct="1">
        <a:spcBef>
          <a:spcPct val="0"/>
        </a:spcBef>
        <a:spcAft>
          <a:spcPct val="0"/>
        </a:spcAft>
        <a:defRPr sz="3200" b="1">
          <a:solidFill>
            <a:schemeClr val="bg1"/>
          </a:solidFill>
          <a:latin typeface="+mj-lt"/>
          <a:ea typeface="+mj-ea"/>
          <a:cs typeface="+mj-cs"/>
        </a:defRPr>
      </a:lvl1pPr>
      <a:lvl2pPr algn="r" rtl="0" eaLnBrk="1" fontAlgn="base" hangingPunct="1">
        <a:spcBef>
          <a:spcPct val="0"/>
        </a:spcBef>
        <a:spcAft>
          <a:spcPct val="0"/>
        </a:spcAft>
        <a:defRPr sz="3200" b="1">
          <a:solidFill>
            <a:schemeClr val="bg1"/>
          </a:solidFill>
          <a:latin typeface="Arial" charset="0"/>
        </a:defRPr>
      </a:lvl2pPr>
      <a:lvl3pPr algn="r" rtl="0" eaLnBrk="1" fontAlgn="base" hangingPunct="1">
        <a:spcBef>
          <a:spcPct val="0"/>
        </a:spcBef>
        <a:spcAft>
          <a:spcPct val="0"/>
        </a:spcAft>
        <a:defRPr sz="3200" b="1">
          <a:solidFill>
            <a:schemeClr val="bg1"/>
          </a:solidFill>
          <a:latin typeface="Arial" charset="0"/>
        </a:defRPr>
      </a:lvl3pPr>
      <a:lvl4pPr algn="r" rtl="0" eaLnBrk="1" fontAlgn="base" hangingPunct="1">
        <a:spcBef>
          <a:spcPct val="0"/>
        </a:spcBef>
        <a:spcAft>
          <a:spcPct val="0"/>
        </a:spcAft>
        <a:defRPr sz="3200" b="1">
          <a:solidFill>
            <a:schemeClr val="bg1"/>
          </a:solidFill>
          <a:latin typeface="Arial" charset="0"/>
        </a:defRPr>
      </a:lvl4pPr>
      <a:lvl5pPr algn="r" rtl="0" eaLnBrk="1" fontAlgn="base" hangingPunct="1">
        <a:spcBef>
          <a:spcPct val="0"/>
        </a:spcBef>
        <a:spcAft>
          <a:spcPct val="0"/>
        </a:spcAft>
        <a:defRPr sz="3200" b="1">
          <a:solidFill>
            <a:schemeClr val="bg1"/>
          </a:solidFill>
          <a:latin typeface="Arial" charset="0"/>
        </a:defRPr>
      </a:lvl5pPr>
      <a:lvl6pPr marL="457200" algn="r" rtl="0" eaLnBrk="1" fontAlgn="base" hangingPunct="1">
        <a:spcBef>
          <a:spcPct val="0"/>
        </a:spcBef>
        <a:spcAft>
          <a:spcPct val="0"/>
        </a:spcAft>
        <a:defRPr sz="3200" b="1">
          <a:solidFill>
            <a:schemeClr val="bg1"/>
          </a:solidFill>
          <a:latin typeface="Arial" charset="0"/>
        </a:defRPr>
      </a:lvl6pPr>
      <a:lvl7pPr marL="914400" algn="r" rtl="0" eaLnBrk="1" fontAlgn="base" hangingPunct="1">
        <a:spcBef>
          <a:spcPct val="0"/>
        </a:spcBef>
        <a:spcAft>
          <a:spcPct val="0"/>
        </a:spcAft>
        <a:defRPr sz="3200" b="1">
          <a:solidFill>
            <a:schemeClr val="bg1"/>
          </a:solidFill>
          <a:latin typeface="Arial" charset="0"/>
        </a:defRPr>
      </a:lvl7pPr>
      <a:lvl8pPr marL="1371600" algn="r" rtl="0" eaLnBrk="1" fontAlgn="base" hangingPunct="1">
        <a:spcBef>
          <a:spcPct val="0"/>
        </a:spcBef>
        <a:spcAft>
          <a:spcPct val="0"/>
        </a:spcAft>
        <a:defRPr sz="3200" b="1">
          <a:solidFill>
            <a:schemeClr val="bg1"/>
          </a:solidFill>
          <a:latin typeface="Arial" charset="0"/>
        </a:defRPr>
      </a:lvl8pPr>
      <a:lvl9pPr marL="1828800" algn="r" rtl="0" eaLnBrk="1" fontAlgn="base" hangingPunct="1">
        <a:spcBef>
          <a:spcPct val="0"/>
        </a:spcBef>
        <a:spcAft>
          <a:spcPct val="0"/>
        </a:spcAft>
        <a:defRPr sz="3200" b="1">
          <a:solidFill>
            <a:schemeClr val="bg1"/>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60119" y="3102092"/>
            <a:ext cx="7620000" cy="1143000"/>
          </a:xfrm>
        </p:spPr>
        <p:txBody>
          <a:bodyPr/>
          <a:lstStyle/>
          <a:p>
            <a:r>
              <a:rPr lang="en-US" dirty="0"/>
              <a:t>HAST-E</a:t>
            </a:r>
            <a:br>
              <a:rPr lang="en-US" dirty="0"/>
            </a:br>
            <a:r>
              <a:rPr lang="en-US" dirty="0"/>
              <a:t>Housing Area Search Tool - Expeditionary </a:t>
            </a:r>
            <a:br>
              <a:rPr lang="en-US" dirty="0"/>
            </a:br>
            <a:endParaRPr lang="en-US" sz="2800" b="0" dirty="0"/>
          </a:p>
        </p:txBody>
      </p:sp>
      <p:sp>
        <p:nvSpPr>
          <p:cNvPr id="2" name="Subtitle 1">
            <a:extLst>
              <a:ext uri="{FF2B5EF4-FFF2-40B4-BE49-F238E27FC236}">
                <a16:creationId xmlns:a16="http://schemas.microsoft.com/office/drawing/2014/main" id="{63E93C6A-52D8-E34D-B306-40F508480546}"/>
              </a:ext>
            </a:extLst>
          </p:cNvPr>
          <p:cNvSpPr>
            <a:spLocks noGrp="1"/>
          </p:cNvSpPr>
          <p:nvPr>
            <p:ph type="subTitle" idx="1"/>
          </p:nvPr>
        </p:nvSpPr>
        <p:spPr>
          <a:xfrm>
            <a:off x="1367837" y="4276607"/>
            <a:ext cx="6400800" cy="1752600"/>
          </a:xfrm>
        </p:spPr>
        <p:txBody>
          <a:bodyPr/>
          <a:lstStyle/>
          <a:p>
            <a:r>
              <a:rPr lang="en-US" sz="2400" dirty="0"/>
              <a:t>Maj Bromley, Maj Shannon, Maj Smith,     CPT Fritz-Schreck, CPT McGahan </a:t>
            </a:r>
          </a:p>
          <a:p>
            <a:r>
              <a:rPr lang="en-US" sz="2400" dirty="0"/>
              <a:t>OA3801  -  Winter 2023</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sz="3200" dirty="0"/>
              <a:t>Problem Statement</a:t>
            </a:r>
          </a:p>
        </p:txBody>
      </p:sp>
      <p:sp>
        <p:nvSpPr>
          <p:cNvPr id="3075" name="Rectangle 3"/>
          <p:cNvSpPr>
            <a:spLocks noGrp="1" noChangeArrowheads="1"/>
          </p:cNvSpPr>
          <p:nvPr>
            <p:ph idx="1"/>
          </p:nvPr>
        </p:nvSpPr>
        <p:spPr>
          <a:xfrm>
            <a:off x="762000" y="1143000"/>
            <a:ext cx="7924800" cy="5105400"/>
          </a:xfrm>
        </p:spPr>
        <p:txBody>
          <a:bodyPr/>
          <a:lstStyle/>
          <a:p>
            <a:r>
              <a:rPr lang="en-US" sz="2000" dirty="0">
                <a:cs typeface="Arial"/>
              </a:rPr>
              <a:t>How can DoD reduce stress for military families and better equip them to make data informed decisions while choosing the best area to look for a place to live at their next duty station?</a:t>
            </a:r>
            <a:endParaRPr lang="en-US" dirty="0"/>
          </a:p>
          <a:p>
            <a:endParaRPr lang="en-US" sz="2000" dirty="0">
              <a:cs typeface="Arial"/>
            </a:endParaRPr>
          </a:p>
        </p:txBody>
      </p:sp>
      <p:sp>
        <p:nvSpPr>
          <p:cNvPr id="5" name="Slide Number Placeholder 4">
            <a:extLst>
              <a:ext uri="{FF2B5EF4-FFF2-40B4-BE49-F238E27FC236}">
                <a16:creationId xmlns:a16="http://schemas.microsoft.com/office/drawing/2014/main" id="{CBEA87FB-E0CF-4253-BDC8-1A70A5D3E461}"/>
              </a:ext>
            </a:extLst>
          </p:cNvPr>
          <p:cNvSpPr txBox="1">
            <a:spLocks/>
          </p:cNvSpPr>
          <p:nvPr/>
        </p:nvSpPr>
        <p:spPr bwMode="auto">
          <a:xfrm>
            <a:off x="7010400" y="65532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spcBef>
                <a:spcPct val="0"/>
              </a:spcBef>
              <a:defRPr sz="1400" kern="1200">
                <a:solidFill>
                  <a:schemeClr val="tx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EE6F70E-7E2D-224A-B1D0-612C1F4A6314}" type="slidenum">
              <a:rPr lang="en-US" smtClean="0"/>
              <a:pPr>
                <a:defRPr/>
              </a:pPr>
              <a:t>2</a:t>
            </a:fld>
            <a:endParaRPr lang="en-US" dirty="0"/>
          </a:p>
        </p:txBody>
      </p:sp>
    </p:spTree>
    <p:extLst>
      <p:ext uri="{BB962C8B-B14F-4D97-AF65-F5344CB8AC3E}">
        <p14:creationId xmlns:p14="http://schemas.microsoft.com/office/powerpoint/2010/main" val="10477840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sz="3200" dirty="0"/>
              <a:t>Objective</a:t>
            </a:r>
            <a:endParaRPr lang="en-US" sz="3200" dirty="0">
              <a:cs typeface="Arial"/>
            </a:endParaRPr>
          </a:p>
        </p:txBody>
      </p:sp>
      <p:sp>
        <p:nvSpPr>
          <p:cNvPr id="3075" name="Rectangle 3"/>
          <p:cNvSpPr>
            <a:spLocks noGrp="1" noChangeArrowheads="1"/>
          </p:cNvSpPr>
          <p:nvPr>
            <p:ph idx="1"/>
          </p:nvPr>
        </p:nvSpPr>
        <p:spPr>
          <a:xfrm>
            <a:off x="762000" y="1143000"/>
            <a:ext cx="7924800" cy="5105400"/>
          </a:xfrm>
        </p:spPr>
        <p:txBody>
          <a:bodyPr/>
          <a:lstStyle/>
          <a:p>
            <a:r>
              <a:rPr lang="en-US" sz="2400" dirty="0">
                <a:cs typeface="Arial"/>
              </a:rPr>
              <a:t>Purpose:</a:t>
            </a:r>
          </a:p>
          <a:p>
            <a:pPr lvl="1"/>
            <a:r>
              <a:rPr lang="en-US" sz="2000" dirty="0">
                <a:ea typeface="+mn-lt"/>
                <a:cs typeface="+mn-lt"/>
              </a:rPr>
              <a:t>Intuitive decision support tool to search for ideal housing location</a:t>
            </a:r>
          </a:p>
          <a:p>
            <a:pPr marL="457200" lvl="1" indent="0">
              <a:buNone/>
            </a:pPr>
            <a:endParaRPr lang="en-US" sz="2000" dirty="0">
              <a:cs typeface="Arial"/>
            </a:endParaRPr>
          </a:p>
          <a:p>
            <a:r>
              <a:rPr lang="en-US" sz="2400" dirty="0">
                <a:cs typeface="Arial"/>
              </a:rPr>
              <a:t>Method:</a:t>
            </a:r>
          </a:p>
          <a:p>
            <a:pPr lvl="1"/>
            <a:r>
              <a:rPr lang="en-US" sz="2000" dirty="0">
                <a:cs typeface="Arial"/>
              </a:rPr>
              <a:t>Get Data: Data compilation from numerous open sources</a:t>
            </a:r>
            <a:endParaRPr lang="en-US" dirty="0">
              <a:cs typeface="Arial"/>
            </a:endParaRPr>
          </a:p>
          <a:p>
            <a:pPr lvl="1"/>
            <a:r>
              <a:rPr lang="en-US" sz="2000" dirty="0">
                <a:cs typeface="Arial"/>
              </a:rPr>
              <a:t>Sort Data: GUI input of personal preference for target metrics</a:t>
            </a:r>
          </a:p>
          <a:p>
            <a:pPr lvl="1"/>
            <a:r>
              <a:rPr lang="en-US" sz="2000" dirty="0">
                <a:cs typeface="Arial"/>
              </a:rPr>
              <a:t>Show Data: Dynamic output via mapping visualization tools </a:t>
            </a:r>
          </a:p>
          <a:p>
            <a:pPr marL="914400" lvl="2" indent="0">
              <a:buNone/>
            </a:pPr>
            <a:endParaRPr lang="en-US" sz="1600" dirty="0">
              <a:ea typeface="+mn-lt"/>
              <a:cs typeface="+mn-lt"/>
            </a:endParaRPr>
          </a:p>
          <a:p>
            <a:pPr marL="914400" lvl="2" indent="0">
              <a:buNone/>
            </a:pPr>
            <a:r>
              <a:rPr lang="en-US" sz="1600" dirty="0">
                <a:ea typeface="+mn-lt"/>
                <a:cs typeface="+mn-lt"/>
              </a:rPr>
              <a:t>*GitHub project workflow exploration</a:t>
            </a:r>
            <a:endParaRPr lang="en-US" dirty="0"/>
          </a:p>
          <a:p>
            <a:pPr lvl="1"/>
            <a:endParaRPr lang="en-US" sz="2000" dirty="0">
              <a:cs typeface="Arial"/>
            </a:endParaRPr>
          </a:p>
          <a:p>
            <a:r>
              <a:rPr lang="en-US" sz="2400" dirty="0">
                <a:cs typeface="Arial"/>
              </a:rPr>
              <a:t>End State:</a:t>
            </a:r>
          </a:p>
          <a:p>
            <a:pPr lvl="1"/>
            <a:r>
              <a:rPr lang="en-US" sz="2000" dirty="0">
                <a:cs typeface="Arial"/>
              </a:rPr>
              <a:t>Dashboard with ability for user input preferences with visualization of top possible housing location areas</a:t>
            </a:r>
            <a:endParaRPr lang="en-US" sz="2000" dirty="0"/>
          </a:p>
          <a:p>
            <a:pPr marL="457200" lvl="1" indent="0">
              <a:buNone/>
            </a:pPr>
            <a:endParaRPr lang="en-US" sz="800" dirty="0"/>
          </a:p>
          <a:p>
            <a:pPr marL="457200" lvl="1" indent="0">
              <a:buNone/>
            </a:pPr>
            <a:endParaRPr lang="en-US" sz="2000" dirty="0">
              <a:cs typeface="Arial"/>
            </a:endParaRPr>
          </a:p>
        </p:txBody>
      </p:sp>
      <p:sp>
        <p:nvSpPr>
          <p:cNvPr id="5" name="Slide Number Placeholder 4">
            <a:extLst>
              <a:ext uri="{FF2B5EF4-FFF2-40B4-BE49-F238E27FC236}">
                <a16:creationId xmlns:a16="http://schemas.microsoft.com/office/drawing/2014/main" id="{CBEA87FB-E0CF-4253-BDC8-1A70A5D3E461}"/>
              </a:ext>
            </a:extLst>
          </p:cNvPr>
          <p:cNvSpPr txBox="1">
            <a:spLocks/>
          </p:cNvSpPr>
          <p:nvPr/>
        </p:nvSpPr>
        <p:spPr bwMode="auto">
          <a:xfrm>
            <a:off x="7010400" y="65532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spcBef>
                <a:spcPct val="0"/>
              </a:spcBef>
              <a:defRPr sz="1400" kern="1200">
                <a:solidFill>
                  <a:schemeClr val="tx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EE6F70E-7E2D-224A-B1D0-612C1F4A6314}" type="slidenum">
              <a:rPr lang="en-US" smtClean="0"/>
              <a:pPr>
                <a:defRPr/>
              </a:pPr>
              <a:t>3</a:t>
            </a:fld>
            <a:endParaRPr lang="en-US" dirty="0"/>
          </a:p>
        </p:txBody>
      </p:sp>
    </p:spTree>
    <p:extLst>
      <p:ext uri="{BB962C8B-B14F-4D97-AF65-F5344CB8AC3E}">
        <p14:creationId xmlns:p14="http://schemas.microsoft.com/office/powerpoint/2010/main" val="26830897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0BB1D1F1-CE78-5AB2-7F21-ECDC95E5E310}"/>
              </a:ext>
            </a:extLst>
          </p:cNvPr>
          <p:cNvSpPr>
            <a:spLocks noGrp="1"/>
          </p:cNvSpPr>
          <p:nvPr>
            <p:ph idx="1"/>
          </p:nvPr>
        </p:nvSpPr>
        <p:spPr/>
        <p:txBody>
          <a:bodyPr/>
          <a:lstStyle/>
          <a:p>
            <a:pPr marL="0" indent="0" algn="ctr">
              <a:buNone/>
            </a:pPr>
            <a:endParaRPr lang="en-US" dirty="0">
              <a:cs typeface="Arial"/>
            </a:endParaRPr>
          </a:p>
          <a:p>
            <a:pPr marL="0" indent="0" algn="ctr">
              <a:buNone/>
            </a:pPr>
            <a:endParaRPr lang="en-US" dirty="0">
              <a:cs typeface="Arial"/>
            </a:endParaRPr>
          </a:p>
          <a:p>
            <a:pPr marL="0" indent="0" algn="ctr">
              <a:buNone/>
            </a:pPr>
            <a:endParaRPr lang="en-US" dirty="0">
              <a:cs typeface="Arial"/>
            </a:endParaRPr>
          </a:p>
          <a:p>
            <a:pPr marL="0" indent="0" algn="ctr">
              <a:buNone/>
            </a:pPr>
            <a:r>
              <a:rPr lang="en-US" dirty="0">
                <a:cs typeface="Arial"/>
              </a:rPr>
              <a:t>Short Demo</a:t>
            </a:r>
          </a:p>
        </p:txBody>
      </p:sp>
      <p:sp>
        <p:nvSpPr>
          <p:cNvPr id="2" name="Title 1">
            <a:extLst>
              <a:ext uri="{FF2B5EF4-FFF2-40B4-BE49-F238E27FC236}">
                <a16:creationId xmlns:a16="http://schemas.microsoft.com/office/drawing/2014/main" id="{1BD5A7E4-6B06-80DC-08FA-B868424A73B4}"/>
              </a:ext>
            </a:extLst>
          </p:cNvPr>
          <p:cNvSpPr>
            <a:spLocks noGrp="1"/>
          </p:cNvSpPr>
          <p:nvPr>
            <p:ph type="title"/>
          </p:nvPr>
        </p:nvSpPr>
        <p:spPr/>
        <p:txBody>
          <a:bodyPr/>
          <a:lstStyle/>
          <a:p>
            <a:r>
              <a:rPr lang="en-US" sz="3200" dirty="0"/>
              <a:t>Intro Demo</a:t>
            </a:r>
          </a:p>
        </p:txBody>
      </p:sp>
    </p:spTree>
    <p:extLst>
      <p:ext uri="{BB962C8B-B14F-4D97-AF65-F5344CB8AC3E}">
        <p14:creationId xmlns:p14="http://schemas.microsoft.com/office/powerpoint/2010/main" val="15403750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sz="3200" dirty="0"/>
              <a:t>Analytical Methods Used</a:t>
            </a:r>
          </a:p>
        </p:txBody>
      </p:sp>
      <p:sp>
        <p:nvSpPr>
          <p:cNvPr id="5" name="Slide Number Placeholder 4">
            <a:extLst>
              <a:ext uri="{FF2B5EF4-FFF2-40B4-BE49-F238E27FC236}">
                <a16:creationId xmlns:a16="http://schemas.microsoft.com/office/drawing/2014/main" id="{CBEA87FB-E0CF-4253-BDC8-1A70A5D3E461}"/>
              </a:ext>
            </a:extLst>
          </p:cNvPr>
          <p:cNvSpPr txBox="1">
            <a:spLocks/>
          </p:cNvSpPr>
          <p:nvPr/>
        </p:nvSpPr>
        <p:spPr bwMode="auto">
          <a:xfrm>
            <a:off x="7010400" y="65532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spcBef>
                <a:spcPct val="0"/>
              </a:spcBef>
              <a:defRPr sz="1400" kern="1200">
                <a:solidFill>
                  <a:schemeClr val="tx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EE6F70E-7E2D-224A-B1D0-612C1F4A6314}" type="slidenum">
              <a:rPr lang="en-US" smtClean="0"/>
              <a:pPr>
                <a:defRPr/>
              </a:pPr>
              <a:t>5</a:t>
            </a:fld>
            <a:endParaRPr lang="en-US" dirty="0"/>
          </a:p>
        </p:txBody>
      </p:sp>
      <p:graphicFrame>
        <p:nvGraphicFramePr>
          <p:cNvPr id="9" name="Diagram 9">
            <a:extLst>
              <a:ext uri="{FF2B5EF4-FFF2-40B4-BE49-F238E27FC236}">
                <a16:creationId xmlns:a16="http://schemas.microsoft.com/office/drawing/2014/main" id="{43B25970-378C-E68F-0495-80E9A5F1F2B1}"/>
              </a:ext>
            </a:extLst>
          </p:cNvPr>
          <p:cNvGraphicFramePr>
            <a:graphicFrameLocks noGrp="1"/>
          </p:cNvGraphicFramePr>
          <p:nvPr>
            <p:ph idx="1"/>
            <p:extLst>
              <p:ext uri="{D42A27DB-BD31-4B8C-83A1-F6EECF244321}">
                <p14:modId xmlns:p14="http://schemas.microsoft.com/office/powerpoint/2010/main" val="2063076723"/>
              </p:ext>
            </p:extLst>
          </p:nvPr>
        </p:nvGraphicFramePr>
        <p:xfrm>
          <a:off x="376297" y="672368"/>
          <a:ext cx="8724428" cy="56566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extBox 12">
            <a:extLst>
              <a:ext uri="{FF2B5EF4-FFF2-40B4-BE49-F238E27FC236}">
                <a16:creationId xmlns:a16="http://schemas.microsoft.com/office/drawing/2014/main" id="{2219C347-7C84-8B4D-CEBD-C59A01FEBA80}"/>
              </a:ext>
            </a:extLst>
          </p:cNvPr>
          <p:cNvSpPr txBox="1"/>
          <p:nvPr/>
        </p:nvSpPr>
        <p:spPr>
          <a:xfrm>
            <a:off x="3424296" y="5281534"/>
            <a:ext cx="8720665" cy="138499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400" b="1" u="sng" dirty="0">
                <a:cs typeface="Arial"/>
              </a:rPr>
              <a:t>Overall Weighted Score =</a:t>
            </a:r>
            <a:endParaRPr lang="en-US" b="1" u="sng" dirty="0">
              <a:cs typeface="Arial"/>
            </a:endParaRPr>
          </a:p>
          <a:p>
            <a:r>
              <a:rPr lang="en-US" sz="1400" b="1" dirty="0">
                <a:cs typeface="Arial"/>
              </a:rPr>
              <a:t>   </a:t>
            </a:r>
            <a:r>
              <a:rPr lang="en-US" sz="1400" b="1" dirty="0" err="1">
                <a:cs typeface="Arial"/>
              </a:rPr>
              <a:t>Wt</a:t>
            </a:r>
            <a:r>
              <a:rPr lang="en-US" sz="1400" b="1" dirty="0">
                <a:cs typeface="Arial"/>
              </a:rPr>
              <a:t> * Affordability Score </a:t>
            </a:r>
            <a:endParaRPr lang="en-US" b="1" dirty="0">
              <a:cs typeface="Arial"/>
            </a:endParaRPr>
          </a:p>
          <a:p>
            <a:r>
              <a:rPr lang="en-US" sz="1400" b="1" dirty="0">
                <a:cs typeface="Arial"/>
              </a:rPr>
              <a:t>+ </a:t>
            </a:r>
            <a:r>
              <a:rPr lang="en-US" sz="1400" b="1" dirty="0" err="1">
                <a:ea typeface="+mn-lt"/>
                <a:cs typeface="+mn-lt"/>
              </a:rPr>
              <a:t>Wt</a:t>
            </a:r>
            <a:r>
              <a:rPr lang="en-US" sz="1400" b="1" dirty="0">
                <a:ea typeface="+mn-lt"/>
                <a:cs typeface="+mn-lt"/>
              </a:rPr>
              <a:t> </a:t>
            </a:r>
            <a:r>
              <a:rPr lang="en-US" sz="1400" b="1" dirty="0">
                <a:cs typeface="Arial"/>
              </a:rPr>
              <a:t>* Walkability Score </a:t>
            </a:r>
            <a:endParaRPr lang="en-US" b="1" dirty="0">
              <a:cs typeface="Arial"/>
            </a:endParaRPr>
          </a:p>
          <a:p>
            <a:r>
              <a:rPr lang="en-US" sz="1400" b="1" dirty="0">
                <a:cs typeface="Arial"/>
              </a:rPr>
              <a:t>+ </a:t>
            </a:r>
            <a:r>
              <a:rPr lang="en-US" sz="1400" b="1" dirty="0" err="1">
                <a:ea typeface="+mn-lt"/>
                <a:cs typeface="+mn-lt"/>
              </a:rPr>
              <a:t>Wt</a:t>
            </a:r>
            <a:r>
              <a:rPr lang="en-US" sz="1400" b="1" dirty="0">
                <a:ea typeface="+mn-lt"/>
                <a:cs typeface="+mn-lt"/>
              </a:rPr>
              <a:t> </a:t>
            </a:r>
            <a:r>
              <a:rPr lang="en-US" sz="1400" b="1" dirty="0">
                <a:cs typeface="Arial"/>
              </a:rPr>
              <a:t>* School Score </a:t>
            </a:r>
            <a:endParaRPr lang="en-US" b="1" dirty="0">
              <a:cs typeface="Arial"/>
            </a:endParaRPr>
          </a:p>
          <a:p>
            <a:r>
              <a:rPr lang="en-US" sz="1400" b="1" dirty="0">
                <a:cs typeface="Arial"/>
              </a:rPr>
              <a:t>+ </a:t>
            </a:r>
            <a:r>
              <a:rPr lang="en-US" sz="1400" b="1" dirty="0" err="1">
                <a:ea typeface="+mn-lt"/>
                <a:cs typeface="+mn-lt"/>
              </a:rPr>
              <a:t>Wt</a:t>
            </a:r>
            <a:r>
              <a:rPr lang="en-US" sz="1400" b="1" dirty="0">
                <a:ea typeface="+mn-lt"/>
                <a:cs typeface="+mn-lt"/>
              </a:rPr>
              <a:t> </a:t>
            </a:r>
            <a:r>
              <a:rPr lang="en-US" sz="1400" b="1" dirty="0">
                <a:cs typeface="Arial"/>
              </a:rPr>
              <a:t>* Recreation Score </a:t>
            </a:r>
            <a:endParaRPr lang="en-US" b="1" dirty="0">
              <a:cs typeface="Arial"/>
            </a:endParaRPr>
          </a:p>
          <a:p>
            <a:r>
              <a:rPr lang="en-US" sz="1400" b="1" dirty="0">
                <a:cs typeface="Arial"/>
              </a:rPr>
              <a:t>- (</a:t>
            </a:r>
            <a:r>
              <a:rPr lang="en-US" sz="1400" b="1" dirty="0" err="1">
                <a:ea typeface="+mn-lt"/>
                <a:cs typeface="+mn-lt"/>
              </a:rPr>
              <a:t>Wt</a:t>
            </a:r>
            <a:r>
              <a:rPr lang="en-US" sz="1400" b="1" dirty="0">
                <a:ea typeface="+mn-lt"/>
                <a:cs typeface="+mn-lt"/>
              </a:rPr>
              <a:t> </a:t>
            </a:r>
            <a:r>
              <a:rPr lang="en-US" sz="1400" b="1" dirty="0">
                <a:cs typeface="Arial"/>
              </a:rPr>
              <a:t>* Crime Score </a:t>
            </a:r>
            <a:r>
              <a:rPr lang="en-US" sz="1400" b="1" dirty="0">
                <a:ea typeface="+mn-lt"/>
                <a:cs typeface="+mn-lt"/>
              </a:rPr>
              <a:t>+ </a:t>
            </a:r>
            <a:r>
              <a:rPr lang="en-US" sz="1400" b="1" dirty="0" err="1">
                <a:ea typeface="+mn-lt"/>
                <a:cs typeface="+mn-lt"/>
              </a:rPr>
              <a:t>Wt</a:t>
            </a:r>
            <a:r>
              <a:rPr lang="en-US" sz="1400" b="1" dirty="0">
                <a:ea typeface="+mn-lt"/>
                <a:cs typeface="+mn-lt"/>
              </a:rPr>
              <a:t> </a:t>
            </a:r>
            <a:r>
              <a:rPr lang="en-US" sz="1400" b="1" dirty="0">
                <a:cs typeface="Arial"/>
              </a:rPr>
              <a:t>* Distance)</a:t>
            </a:r>
            <a:endParaRPr lang="en-US" b="1" dirty="0">
              <a:cs typeface="Arial"/>
            </a:endParaRPr>
          </a:p>
        </p:txBody>
      </p:sp>
    </p:spTree>
    <p:extLst>
      <p:ext uri="{BB962C8B-B14F-4D97-AF65-F5344CB8AC3E}">
        <p14:creationId xmlns:p14="http://schemas.microsoft.com/office/powerpoint/2010/main" val="27197720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70575-4EC7-6044-CC39-8A8B74D0C4FC}"/>
              </a:ext>
            </a:extLst>
          </p:cNvPr>
          <p:cNvSpPr>
            <a:spLocks noGrp="1"/>
          </p:cNvSpPr>
          <p:nvPr>
            <p:ph type="title"/>
          </p:nvPr>
        </p:nvSpPr>
        <p:spPr/>
        <p:txBody>
          <a:bodyPr/>
          <a:lstStyle/>
          <a:p>
            <a:r>
              <a:rPr lang="en-US" sz="3200" dirty="0"/>
              <a:t>Data Sources</a:t>
            </a:r>
          </a:p>
        </p:txBody>
      </p:sp>
      <p:sp>
        <p:nvSpPr>
          <p:cNvPr id="3" name="Content Placeholder 2">
            <a:extLst>
              <a:ext uri="{FF2B5EF4-FFF2-40B4-BE49-F238E27FC236}">
                <a16:creationId xmlns:a16="http://schemas.microsoft.com/office/drawing/2014/main" id="{46786E0D-14CC-E108-2455-6FA09AA8B7D5}"/>
              </a:ext>
            </a:extLst>
          </p:cNvPr>
          <p:cNvSpPr>
            <a:spLocks noGrp="1"/>
          </p:cNvSpPr>
          <p:nvPr>
            <p:ph idx="1"/>
          </p:nvPr>
        </p:nvSpPr>
        <p:spPr/>
        <p:txBody>
          <a:bodyPr/>
          <a:lstStyle/>
          <a:p>
            <a:r>
              <a:rPr lang="en-US" sz="1800" dirty="0">
                <a:cs typeface="Arial"/>
              </a:rPr>
              <a:t>Geographies: </a:t>
            </a:r>
            <a:endParaRPr lang="en-US" sz="1800">
              <a:cs typeface="Arial"/>
            </a:endParaRPr>
          </a:p>
          <a:p>
            <a:pPr lvl="1"/>
            <a:r>
              <a:rPr lang="en-US" sz="1600" dirty="0">
                <a:cs typeface="Arial"/>
              </a:rPr>
              <a:t>US Census 2020 KMLs</a:t>
            </a:r>
          </a:p>
          <a:p>
            <a:r>
              <a:rPr lang="en-US" sz="1800" dirty="0">
                <a:cs typeface="Arial"/>
              </a:rPr>
              <a:t>Affordability Score: </a:t>
            </a:r>
          </a:p>
          <a:p>
            <a:pPr lvl="1"/>
            <a:r>
              <a:rPr lang="en-US" sz="1600" dirty="0">
                <a:cs typeface="Arial"/>
              </a:rPr>
              <a:t>DoD: BAH Primer and Rates</a:t>
            </a:r>
          </a:p>
          <a:p>
            <a:pPr lvl="1"/>
            <a:r>
              <a:rPr lang="en-US" sz="1600" dirty="0">
                <a:cs typeface="Arial"/>
              </a:rPr>
              <a:t>Housing and Urban Development office: Fair Market Rent (40th percentile)</a:t>
            </a:r>
          </a:p>
          <a:p>
            <a:r>
              <a:rPr lang="en-US" sz="1800" dirty="0">
                <a:cs typeface="Arial"/>
              </a:rPr>
              <a:t>Crime Score: </a:t>
            </a:r>
          </a:p>
          <a:p>
            <a:pPr lvl="1"/>
            <a:r>
              <a:rPr lang="en-US" sz="1600" dirty="0">
                <a:cs typeface="Arial"/>
              </a:rPr>
              <a:t>FBI Uniform Crime Report (crime/100,000 population)</a:t>
            </a:r>
          </a:p>
          <a:p>
            <a:r>
              <a:rPr lang="en-US" sz="1800" dirty="0">
                <a:cs typeface="Arial"/>
              </a:rPr>
              <a:t>School Score: </a:t>
            </a:r>
          </a:p>
          <a:p>
            <a:pPr lvl="1"/>
            <a:r>
              <a:rPr lang="en-US" sz="1600" dirty="0">
                <a:cs typeface="Arial"/>
              </a:rPr>
              <a:t>GreatSchools API</a:t>
            </a:r>
          </a:p>
          <a:p>
            <a:r>
              <a:rPr lang="en-US" sz="1800" dirty="0">
                <a:cs typeface="Arial"/>
              </a:rPr>
              <a:t>Walkability Score: </a:t>
            </a:r>
          </a:p>
          <a:p>
            <a:pPr lvl="1"/>
            <a:r>
              <a:rPr lang="en-US" sz="1600" dirty="0">
                <a:cs typeface="Arial"/>
              </a:rPr>
              <a:t>EPA Walkability Index (ESRI rest API)</a:t>
            </a:r>
          </a:p>
          <a:p>
            <a:r>
              <a:rPr lang="en-US" sz="1800" dirty="0">
                <a:cs typeface="Arial"/>
              </a:rPr>
              <a:t>Recreation Score: </a:t>
            </a:r>
          </a:p>
          <a:p>
            <a:pPr lvl="1"/>
            <a:r>
              <a:rPr lang="en-US" sz="1600" dirty="0" err="1">
                <a:cs typeface="Arial"/>
              </a:rPr>
              <a:t>OpenBrewerydb</a:t>
            </a:r>
            <a:r>
              <a:rPr lang="en-US" sz="1600" dirty="0">
                <a:cs typeface="Arial"/>
              </a:rPr>
              <a:t> API</a:t>
            </a:r>
          </a:p>
          <a:p>
            <a:endParaRPr lang="en-US" sz="1800" dirty="0">
              <a:cs typeface="Arial"/>
            </a:endParaRPr>
          </a:p>
          <a:p>
            <a:endParaRPr lang="en-US" sz="1800" dirty="0">
              <a:cs typeface="Arial"/>
            </a:endParaRPr>
          </a:p>
          <a:p>
            <a:r>
              <a:rPr lang="en-US" sz="1800" dirty="0">
                <a:cs typeface="Arial"/>
              </a:rPr>
              <a:t>Prototype focused on DC, MD, and VA due to size of data available</a:t>
            </a:r>
          </a:p>
        </p:txBody>
      </p:sp>
    </p:spTree>
    <p:extLst>
      <p:ext uri="{BB962C8B-B14F-4D97-AF65-F5344CB8AC3E}">
        <p14:creationId xmlns:p14="http://schemas.microsoft.com/office/powerpoint/2010/main" val="30408235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dirty="0"/>
              <a:t>Code Review</a:t>
            </a:r>
            <a:endParaRPr lang="en-US" sz="3200" dirty="0"/>
          </a:p>
        </p:txBody>
      </p:sp>
      <p:sp>
        <p:nvSpPr>
          <p:cNvPr id="5" name="Slide Number Placeholder 4">
            <a:extLst>
              <a:ext uri="{FF2B5EF4-FFF2-40B4-BE49-F238E27FC236}">
                <a16:creationId xmlns:a16="http://schemas.microsoft.com/office/drawing/2014/main" id="{CBEA87FB-E0CF-4253-BDC8-1A70A5D3E461}"/>
              </a:ext>
            </a:extLst>
          </p:cNvPr>
          <p:cNvSpPr txBox="1">
            <a:spLocks/>
          </p:cNvSpPr>
          <p:nvPr/>
        </p:nvSpPr>
        <p:spPr bwMode="auto">
          <a:xfrm>
            <a:off x="7010400" y="65532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spcBef>
                <a:spcPct val="0"/>
              </a:spcBef>
              <a:defRPr sz="1400" kern="1200">
                <a:solidFill>
                  <a:schemeClr val="tx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EE6F70E-7E2D-224A-B1D0-612C1F4A6314}" type="slidenum">
              <a:rPr lang="en-US" smtClean="0"/>
              <a:pPr>
                <a:defRPr/>
              </a:pPr>
              <a:t>7</a:t>
            </a:fld>
            <a:endParaRPr lang="en-US" dirty="0"/>
          </a:p>
        </p:txBody>
      </p:sp>
      <p:sp>
        <p:nvSpPr>
          <p:cNvPr id="2" name="Content Placeholder 1">
            <a:extLst>
              <a:ext uri="{FF2B5EF4-FFF2-40B4-BE49-F238E27FC236}">
                <a16:creationId xmlns:a16="http://schemas.microsoft.com/office/drawing/2014/main" id="{C923A02B-A190-9B6D-DAC5-806CF1AB096C}"/>
              </a:ext>
            </a:extLst>
          </p:cNvPr>
          <p:cNvSpPr>
            <a:spLocks noGrp="1"/>
          </p:cNvSpPr>
          <p:nvPr>
            <p:ph sz="half" idx="1"/>
          </p:nvPr>
        </p:nvSpPr>
        <p:spPr>
          <a:xfrm>
            <a:off x="457200" y="1295400"/>
            <a:ext cx="8253118" cy="4800600"/>
          </a:xfrm>
        </p:spPr>
        <p:txBody>
          <a:bodyPr/>
          <a:lstStyle/>
          <a:p>
            <a:r>
              <a:rPr lang="en-US" dirty="0">
                <a:cs typeface="Arial"/>
              </a:rPr>
              <a:t>Folium: Easy generation of map layers (Choropleths, custom markers, and layer control built in)</a:t>
            </a:r>
            <a:endParaRPr lang="en-US" dirty="0"/>
          </a:p>
          <a:p>
            <a:pPr lvl="1"/>
            <a:r>
              <a:rPr lang="en-US" dirty="0">
                <a:cs typeface="Arial"/>
              </a:rPr>
              <a:t>One-way rendering. Requires regeneration to change display of data (other than filtering)</a:t>
            </a:r>
          </a:p>
          <a:p>
            <a:pPr marL="457200" lvl="1" indent="0">
              <a:buNone/>
            </a:pPr>
            <a:endParaRPr lang="en-US" dirty="0">
              <a:ea typeface="+mn-lt"/>
              <a:cs typeface="+mn-lt"/>
            </a:endParaRPr>
          </a:p>
          <a:p>
            <a:r>
              <a:rPr lang="en-US" dirty="0">
                <a:ea typeface="+mn-lt"/>
                <a:cs typeface="+mn-lt"/>
              </a:rPr>
              <a:t>Param: Package </a:t>
            </a:r>
            <a:r>
              <a:rPr lang="en-US" dirty="0">
                <a:cs typeface="Arial"/>
              </a:rPr>
              <a:t>supporting user-modifiable parameters, arguments, and attributes</a:t>
            </a:r>
            <a:endParaRPr lang="en-US" dirty="0">
              <a:ea typeface="+mn-lt"/>
              <a:cs typeface="+mn-lt"/>
            </a:endParaRPr>
          </a:p>
          <a:p>
            <a:pPr lvl="1"/>
            <a:r>
              <a:rPr lang="en-US" dirty="0">
                <a:ea typeface="+mn-lt"/>
                <a:cs typeface="+mn-lt"/>
              </a:rPr>
              <a:t>Allows Folium maps to be reloaded with new information</a:t>
            </a:r>
            <a:endParaRPr lang="en-US" dirty="0"/>
          </a:p>
          <a:p>
            <a:endParaRPr lang="en-US" dirty="0">
              <a:cs typeface="Arial"/>
            </a:endParaRPr>
          </a:p>
        </p:txBody>
      </p:sp>
    </p:spTree>
    <p:extLst>
      <p:ext uri="{BB962C8B-B14F-4D97-AF65-F5344CB8AC3E}">
        <p14:creationId xmlns:p14="http://schemas.microsoft.com/office/powerpoint/2010/main" val="4143185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4EDE4-596D-63C9-E595-CB7F17CCF7AC}"/>
              </a:ext>
            </a:extLst>
          </p:cNvPr>
          <p:cNvSpPr>
            <a:spLocks noGrp="1"/>
          </p:cNvSpPr>
          <p:nvPr>
            <p:ph type="title"/>
          </p:nvPr>
        </p:nvSpPr>
        <p:spPr>
          <a:xfrm>
            <a:off x="2286000" y="0"/>
            <a:ext cx="6553200" cy="762000"/>
          </a:xfrm>
        </p:spPr>
        <p:txBody>
          <a:bodyPr wrap="square" anchor="ctr">
            <a:normAutofit/>
          </a:bodyPr>
          <a:lstStyle/>
          <a:p>
            <a:pPr>
              <a:lnSpc>
                <a:spcPct val="90000"/>
              </a:lnSpc>
            </a:pPr>
            <a:r>
              <a:rPr lang="en-US" sz="2200"/>
              <a:t>Recommendations</a:t>
            </a:r>
            <a:br>
              <a:rPr lang="en-US" sz="2200"/>
            </a:br>
            <a:r>
              <a:rPr lang="en-US" sz="2200"/>
              <a:t>Future Research</a:t>
            </a:r>
          </a:p>
        </p:txBody>
      </p:sp>
      <p:sp>
        <p:nvSpPr>
          <p:cNvPr id="9" name="Content Placeholder 2">
            <a:extLst>
              <a:ext uri="{FF2B5EF4-FFF2-40B4-BE49-F238E27FC236}">
                <a16:creationId xmlns:a16="http://schemas.microsoft.com/office/drawing/2014/main" id="{7F95FB9A-CD30-C508-5185-2292508149C5}"/>
              </a:ext>
            </a:extLst>
          </p:cNvPr>
          <p:cNvSpPr>
            <a:spLocks noGrp="1"/>
          </p:cNvSpPr>
          <p:nvPr>
            <p:ph sz="half" idx="1"/>
          </p:nvPr>
        </p:nvSpPr>
        <p:spPr>
          <a:xfrm>
            <a:off x="339969" y="1359876"/>
            <a:ext cx="4232030" cy="4800600"/>
          </a:xfrm>
        </p:spPr>
        <p:txBody>
          <a:bodyPr/>
          <a:lstStyle/>
          <a:p>
            <a:r>
              <a:rPr lang="en-US" dirty="0">
                <a:cs typeface="Arial"/>
              </a:rPr>
              <a:t>Recommendations:</a:t>
            </a:r>
          </a:p>
          <a:p>
            <a:pPr lvl="1"/>
            <a:r>
              <a:rPr lang="en-US" sz="2000" dirty="0">
                <a:cs typeface="Arial"/>
              </a:rPr>
              <a:t>Search for computational gains to reduce load-time</a:t>
            </a:r>
          </a:p>
          <a:p>
            <a:pPr lvl="1"/>
            <a:r>
              <a:rPr lang="en-US" sz="2000" dirty="0">
                <a:cs typeface="Arial"/>
              </a:rPr>
              <a:t>GitHub collaboration use</a:t>
            </a:r>
          </a:p>
          <a:p>
            <a:pPr lvl="2"/>
            <a:r>
              <a:rPr lang="en-US" sz="1600" dirty="0">
                <a:cs typeface="Arial"/>
              </a:rPr>
              <a:t>Version control</a:t>
            </a:r>
          </a:p>
          <a:p>
            <a:pPr lvl="1"/>
            <a:endParaRPr lang="en-US" dirty="0">
              <a:cs typeface="Arial"/>
            </a:endParaRPr>
          </a:p>
          <a:p>
            <a:r>
              <a:rPr lang="en-US" dirty="0">
                <a:cs typeface="Arial"/>
              </a:rPr>
              <a:t>Shortfalls:</a:t>
            </a:r>
          </a:p>
          <a:p>
            <a:pPr lvl="1"/>
            <a:r>
              <a:rPr lang="en-US" sz="2000" dirty="0">
                <a:cs typeface="Arial"/>
              </a:rPr>
              <a:t>Data source accuracy</a:t>
            </a:r>
          </a:p>
          <a:p>
            <a:pPr lvl="1"/>
            <a:r>
              <a:rPr lang="en-US" sz="2000" dirty="0">
                <a:cs typeface="Arial"/>
              </a:rPr>
              <a:t>Input of average values dilutes the datasets (empty data)</a:t>
            </a:r>
          </a:p>
          <a:p>
            <a:pPr marL="457200" lvl="1" indent="0">
              <a:buNone/>
            </a:pPr>
            <a:endParaRPr lang="en-US" dirty="0">
              <a:cs typeface="Arial"/>
            </a:endParaRPr>
          </a:p>
          <a:p>
            <a:endParaRPr lang="en-US" dirty="0">
              <a:cs typeface="Arial"/>
            </a:endParaRPr>
          </a:p>
          <a:p>
            <a:pPr marL="457200" lvl="1" indent="0">
              <a:buNone/>
            </a:pPr>
            <a:endParaRPr lang="en-US" dirty="0">
              <a:ea typeface="+mn-lt"/>
              <a:cs typeface="+mn-lt"/>
            </a:endParaRPr>
          </a:p>
        </p:txBody>
      </p:sp>
      <p:sp>
        <p:nvSpPr>
          <p:cNvPr id="11" name="Content Placeholder 3">
            <a:extLst>
              <a:ext uri="{FF2B5EF4-FFF2-40B4-BE49-F238E27FC236}">
                <a16:creationId xmlns:a16="http://schemas.microsoft.com/office/drawing/2014/main" id="{5C0A823A-D216-821B-96B6-ACDA44CDCDA5}"/>
              </a:ext>
            </a:extLst>
          </p:cNvPr>
          <p:cNvSpPr>
            <a:spLocks noGrp="1"/>
          </p:cNvSpPr>
          <p:nvPr>
            <p:ph sz="half" idx="2"/>
          </p:nvPr>
        </p:nvSpPr>
        <p:spPr>
          <a:xfrm>
            <a:off x="4572000" y="1412630"/>
            <a:ext cx="4276174" cy="4800600"/>
          </a:xfrm>
        </p:spPr>
        <p:txBody>
          <a:bodyPr/>
          <a:lstStyle/>
          <a:p>
            <a:r>
              <a:rPr lang="en-US" dirty="0">
                <a:cs typeface="Arial"/>
              </a:rPr>
              <a:t>Future research:</a:t>
            </a:r>
          </a:p>
          <a:p>
            <a:pPr lvl="1"/>
            <a:r>
              <a:rPr lang="en-US" sz="2000" dirty="0">
                <a:cs typeface="Arial"/>
              </a:rPr>
              <a:t>Expand to all PCS locations around DoD</a:t>
            </a:r>
          </a:p>
          <a:p>
            <a:pPr lvl="1"/>
            <a:r>
              <a:rPr lang="en-US" sz="2000" dirty="0">
                <a:cs typeface="Arial"/>
              </a:rPr>
              <a:t>Integrate with real time housing listings </a:t>
            </a:r>
          </a:p>
          <a:p>
            <a:pPr lvl="1"/>
            <a:r>
              <a:rPr lang="en-US" sz="2000" dirty="0">
                <a:cs typeface="Arial"/>
              </a:rPr>
              <a:t>Greater map user interactivity (Dash-Leaflet)</a:t>
            </a:r>
          </a:p>
          <a:p>
            <a:pPr lvl="1"/>
            <a:r>
              <a:rPr lang="en-US" sz="2000" dirty="0">
                <a:cs typeface="Arial"/>
              </a:rPr>
              <a:t>Search duty location via </a:t>
            </a:r>
            <a:r>
              <a:rPr lang="en-US" sz="2000" dirty="0" err="1">
                <a:cs typeface="Arial"/>
              </a:rPr>
              <a:t>Nominatim</a:t>
            </a:r>
            <a:r>
              <a:rPr lang="en-US" sz="2000" dirty="0">
                <a:cs typeface="Arial"/>
              </a:rPr>
              <a:t> search tool</a:t>
            </a:r>
          </a:p>
          <a:p>
            <a:pPr lvl="2"/>
            <a:r>
              <a:rPr lang="en-US" sz="1600" dirty="0">
                <a:cs typeface="Arial"/>
              </a:rPr>
              <a:t>OpenStreetMap search by name and address</a:t>
            </a:r>
          </a:p>
        </p:txBody>
      </p:sp>
    </p:spTree>
    <p:extLst>
      <p:ext uri="{BB962C8B-B14F-4D97-AF65-F5344CB8AC3E}">
        <p14:creationId xmlns:p14="http://schemas.microsoft.com/office/powerpoint/2010/main" val="932010975"/>
      </p:ext>
    </p:extLst>
  </p:cSld>
  <p:clrMapOvr>
    <a:masterClrMapping/>
  </p:clrMapOvr>
  <p:transition spd="med">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7CD54-1ABA-380D-F452-83F8097FBC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8A0886-ED3E-EDD0-68EE-DF7A1D0F0EAF}"/>
              </a:ext>
            </a:extLst>
          </p:cNvPr>
          <p:cNvSpPr>
            <a:spLocks noGrp="1"/>
          </p:cNvSpPr>
          <p:nvPr>
            <p:ph idx="1"/>
          </p:nvPr>
        </p:nvSpPr>
        <p:spPr>
          <a:xfrm>
            <a:off x="762000" y="3124200"/>
            <a:ext cx="7924800" cy="2971800"/>
          </a:xfrm>
        </p:spPr>
        <p:txBody>
          <a:bodyPr/>
          <a:lstStyle/>
          <a:p>
            <a:pPr marL="0" indent="0" algn="ctr">
              <a:buNone/>
            </a:pPr>
            <a:r>
              <a:rPr lang="en-US" dirty="0"/>
              <a:t>Questions?</a:t>
            </a:r>
          </a:p>
        </p:txBody>
      </p:sp>
    </p:spTree>
    <p:extLst>
      <p:ext uri="{BB962C8B-B14F-4D97-AF65-F5344CB8AC3E}">
        <p14:creationId xmlns:p14="http://schemas.microsoft.com/office/powerpoint/2010/main" val="13743222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AE6D4-E379-B3D2-9D1E-17D00C355BE1}"/>
              </a:ext>
            </a:extLst>
          </p:cNvPr>
          <p:cNvSpPr>
            <a:spLocks noGrp="1"/>
          </p:cNvSpPr>
          <p:nvPr>
            <p:ph type="title"/>
          </p:nvPr>
        </p:nvSpPr>
        <p:spPr/>
        <p:txBody>
          <a:bodyPr/>
          <a:lstStyle/>
          <a:p>
            <a:r>
              <a:rPr lang="en-US" dirty="0">
                <a:cs typeface="Arial"/>
              </a:rPr>
              <a:t>Backup – Affordability Score Formulation</a:t>
            </a:r>
            <a:endParaRPr lang="en-US" dirty="0"/>
          </a:p>
        </p:txBody>
      </p:sp>
      <p:pic>
        <p:nvPicPr>
          <p:cNvPr id="4" name="Picture 4" descr="A picture containing text&#10;&#10;Description automatically generated">
            <a:extLst>
              <a:ext uri="{FF2B5EF4-FFF2-40B4-BE49-F238E27FC236}">
                <a16:creationId xmlns:a16="http://schemas.microsoft.com/office/drawing/2014/main" id="{BF8ED012-D5EE-975C-8F01-7C9D79D74270}"/>
              </a:ext>
            </a:extLst>
          </p:cNvPr>
          <p:cNvPicPr>
            <a:picLocks noChangeAspect="1"/>
          </p:cNvPicPr>
          <p:nvPr/>
        </p:nvPicPr>
        <p:blipFill>
          <a:blip r:embed="rId2"/>
          <a:stretch>
            <a:fillRect/>
          </a:stretch>
        </p:blipFill>
        <p:spPr>
          <a:xfrm>
            <a:off x="760073" y="4388798"/>
            <a:ext cx="8144717" cy="1292380"/>
          </a:xfrm>
          <a:prstGeom prst="rect">
            <a:avLst/>
          </a:prstGeom>
        </p:spPr>
      </p:pic>
      <p:sp>
        <p:nvSpPr>
          <p:cNvPr id="6" name="Content Placeholder 5">
            <a:extLst>
              <a:ext uri="{FF2B5EF4-FFF2-40B4-BE49-F238E27FC236}">
                <a16:creationId xmlns:a16="http://schemas.microsoft.com/office/drawing/2014/main" id="{1BFF7B4F-CA4D-3753-CEF5-F018B8D0C047}"/>
              </a:ext>
            </a:extLst>
          </p:cNvPr>
          <p:cNvSpPr>
            <a:spLocks noGrp="1"/>
          </p:cNvSpPr>
          <p:nvPr>
            <p:ph idx="1"/>
          </p:nvPr>
        </p:nvSpPr>
        <p:spPr/>
        <p:txBody>
          <a:bodyPr/>
          <a:lstStyle/>
          <a:p>
            <a:r>
              <a:rPr lang="en-US" dirty="0">
                <a:cs typeface="Arial"/>
              </a:rPr>
              <a:t>Basic Housing Allowance (BAH):</a:t>
            </a:r>
          </a:p>
          <a:p>
            <a:pPr lvl="1">
              <a:buFont typeface="Arial"/>
              <a:buChar char="–"/>
            </a:pPr>
            <a:r>
              <a:rPr lang="en-US" dirty="0">
                <a:cs typeface="Arial"/>
              </a:rPr>
              <a:t>Duty zip code, rank, dependent status</a:t>
            </a:r>
          </a:p>
          <a:p>
            <a:pPr lvl="1">
              <a:buFont typeface="Arial"/>
              <a:buChar char="–"/>
            </a:pPr>
            <a:r>
              <a:rPr lang="en-US" dirty="0">
                <a:cs typeface="Arial"/>
              </a:rPr>
              <a:t>Defined housing size by rank (1,2,3,4 </a:t>
            </a:r>
            <a:r>
              <a:rPr lang="en-US" dirty="0" err="1">
                <a:cs typeface="Arial"/>
              </a:rPr>
              <a:t>bdrm</a:t>
            </a:r>
            <a:r>
              <a:rPr lang="en-US" dirty="0">
                <a:cs typeface="Arial"/>
              </a:rPr>
              <a:t>)</a:t>
            </a:r>
            <a:endParaRPr lang="en-US" dirty="0">
              <a:ea typeface="+mn-lt"/>
              <a:cs typeface="+mn-lt"/>
            </a:endParaRPr>
          </a:p>
          <a:p>
            <a:pPr>
              <a:buFont typeface="Arial"/>
              <a:buChar char="•"/>
            </a:pPr>
            <a:r>
              <a:rPr lang="en-US" dirty="0">
                <a:ea typeface="+mn-lt"/>
                <a:cs typeface="+mn-lt"/>
              </a:rPr>
              <a:t>Fair Market Rent (FMR):</a:t>
            </a:r>
            <a:endParaRPr lang="en-US" dirty="0">
              <a:cs typeface="Arial"/>
            </a:endParaRPr>
          </a:p>
          <a:p>
            <a:pPr lvl="1">
              <a:buFont typeface="Arial"/>
              <a:buChar char="–"/>
            </a:pPr>
            <a:r>
              <a:rPr lang="en-US" dirty="0">
                <a:cs typeface="Arial"/>
              </a:rPr>
              <a:t>Zip code, number of bedrooms</a:t>
            </a:r>
          </a:p>
          <a:p>
            <a:pPr lvl="1"/>
            <a:endParaRPr lang="en-US" dirty="0">
              <a:cs typeface="Arial"/>
            </a:endParaRPr>
          </a:p>
        </p:txBody>
      </p:sp>
    </p:spTree>
    <p:extLst>
      <p:ext uri="{BB962C8B-B14F-4D97-AF65-F5344CB8AC3E}">
        <p14:creationId xmlns:p14="http://schemas.microsoft.com/office/powerpoint/2010/main" val="4253447979"/>
      </p:ext>
    </p:extLst>
  </p:cSld>
  <p:clrMapOvr>
    <a:masterClrMapping/>
  </p:clrMapOvr>
  <p:transition spd="med">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AE6D4-E379-B3D2-9D1E-17D00C355BE1}"/>
              </a:ext>
            </a:extLst>
          </p:cNvPr>
          <p:cNvSpPr>
            <a:spLocks noGrp="1"/>
          </p:cNvSpPr>
          <p:nvPr>
            <p:ph type="title"/>
          </p:nvPr>
        </p:nvSpPr>
        <p:spPr/>
        <p:txBody>
          <a:bodyPr/>
          <a:lstStyle/>
          <a:p>
            <a:r>
              <a:rPr lang="en-US" dirty="0">
                <a:cs typeface="Arial"/>
              </a:rPr>
              <a:t>Backup – Crime Index Formulation</a:t>
            </a:r>
            <a:endParaRPr lang="en-US" dirty="0"/>
          </a:p>
        </p:txBody>
      </p:sp>
      <p:sp>
        <p:nvSpPr>
          <p:cNvPr id="6" name="Content Placeholder 5">
            <a:extLst>
              <a:ext uri="{FF2B5EF4-FFF2-40B4-BE49-F238E27FC236}">
                <a16:creationId xmlns:a16="http://schemas.microsoft.com/office/drawing/2014/main" id="{1BFF7B4F-CA4D-3753-CEF5-F018B8D0C047}"/>
              </a:ext>
            </a:extLst>
          </p:cNvPr>
          <p:cNvSpPr>
            <a:spLocks noGrp="1"/>
          </p:cNvSpPr>
          <p:nvPr>
            <p:ph idx="1"/>
          </p:nvPr>
        </p:nvSpPr>
        <p:spPr/>
        <p:txBody>
          <a:bodyPr/>
          <a:lstStyle/>
          <a:p>
            <a:r>
              <a:rPr lang="en-US" dirty="0">
                <a:cs typeface="Arial"/>
              </a:rPr>
              <a:t>Crime Data:</a:t>
            </a:r>
          </a:p>
          <a:p>
            <a:pPr lvl="1"/>
            <a:r>
              <a:rPr lang="en-US" dirty="0">
                <a:cs typeface="Arial"/>
              </a:rPr>
              <a:t>Quarterly report compiled by FBI</a:t>
            </a:r>
          </a:p>
          <a:p>
            <a:pPr lvl="1"/>
            <a:r>
              <a:rPr lang="en-US" dirty="0">
                <a:cs typeface="Arial"/>
              </a:rPr>
              <a:t>Reported crimes for data are voluntary</a:t>
            </a:r>
          </a:p>
          <a:p>
            <a:pPr lvl="2"/>
            <a:r>
              <a:rPr lang="en-US" dirty="0">
                <a:cs typeface="Arial"/>
              </a:rPr>
              <a:t>Over 357,000 reported crimes </a:t>
            </a:r>
          </a:p>
          <a:p>
            <a:pPr lvl="2"/>
            <a:r>
              <a:rPr lang="en-US" dirty="0">
                <a:cs typeface="Arial"/>
              </a:rPr>
              <a:t>Categories = violent, murder, assault, etc...</a:t>
            </a:r>
          </a:p>
          <a:p>
            <a:pPr lvl="1"/>
            <a:endParaRPr lang="en-US" sz="2800" dirty="0">
              <a:cs typeface="Arial"/>
            </a:endParaRPr>
          </a:p>
        </p:txBody>
      </p:sp>
      <p:sp>
        <p:nvSpPr>
          <p:cNvPr id="3" name="TextBox 2">
            <a:extLst>
              <a:ext uri="{FF2B5EF4-FFF2-40B4-BE49-F238E27FC236}">
                <a16:creationId xmlns:a16="http://schemas.microsoft.com/office/drawing/2014/main" id="{B9647276-420D-19C1-72DD-F908D8CB053C}"/>
              </a:ext>
            </a:extLst>
          </p:cNvPr>
          <p:cNvSpPr txBox="1"/>
          <p:nvPr/>
        </p:nvSpPr>
        <p:spPr>
          <a:xfrm>
            <a:off x="2247900" y="4000499"/>
            <a:ext cx="356967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spcAft>
                <a:spcPct val="0"/>
              </a:spcAft>
            </a:pPr>
            <a:r>
              <a:rPr lang="en-US" b="1" u="sng" dirty="0">
                <a:ea typeface="+mn-lt"/>
                <a:cs typeface="+mn-lt"/>
              </a:rPr>
              <a:t>  (#Crimes*weighted average) </a:t>
            </a:r>
            <a:r>
              <a:rPr lang="en-US" b="1" dirty="0">
                <a:ea typeface="+mn-lt"/>
                <a:cs typeface="+mn-lt"/>
              </a:rPr>
              <a:t>                     Population</a:t>
            </a:r>
            <a:endParaRPr lang="en-US" b="1">
              <a:cs typeface="Arial"/>
            </a:endParaRPr>
          </a:p>
          <a:p>
            <a:pPr algn="l"/>
            <a:endParaRPr lang="en-US" b="1" dirty="0">
              <a:cs typeface="Arial"/>
            </a:endParaRPr>
          </a:p>
        </p:txBody>
      </p:sp>
      <p:sp>
        <p:nvSpPr>
          <p:cNvPr id="5" name="TextBox 4">
            <a:extLst>
              <a:ext uri="{FF2B5EF4-FFF2-40B4-BE49-F238E27FC236}">
                <a16:creationId xmlns:a16="http://schemas.microsoft.com/office/drawing/2014/main" id="{D05C4858-E272-F7C6-DA5E-8477C97BBFBE}"/>
              </a:ext>
            </a:extLst>
          </p:cNvPr>
          <p:cNvSpPr txBox="1"/>
          <p:nvPr/>
        </p:nvSpPr>
        <p:spPr>
          <a:xfrm>
            <a:off x="5653454" y="4088421"/>
            <a:ext cx="200171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Arial"/>
              </a:rPr>
              <a:t>= Crime Index</a:t>
            </a:r>
            <a:endParaRPr lang="en-US" b="1" dirty="0"/>
          </a:p>
        </p:txBody>
      </p:sp>
      <p:sp>
        <p:nvSpPr>
          <p:cNvPr id="7" name="TextBox 6">
            <a:extLst>
              <a:ext uri="{FF2B5EF4-FFF2-40B4-BE49-F238E27FC236}">
                <a16:creationId xmlns:a16="http://schemas.microsoft.com/office/drawing/2014/main" id="{1B6D78D8-BE33-3A88-5886-0CE1ABEA9691}"/>
              </a:ext>
            </a:extLst>
          </p:cNvPr>
          <p:cNvSpPr txBox="1"/>
          <p:nvPr/>
        </p:nvSpPr>
        <p:spPr>
          <a:xfrm>
            <a:off x="2244970" y="395653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111111"/>
                </a:solidFill>
                <a:latin typeface="Roboto"/>
                <a:ea typeface="Roboto"/>
                <a:cs typeface="Roboto"/>
              </a:rPr>
              <a:t>∑</a:t>
            </a:r>
            <a:endParaRPr lang="en-US" b="1"/>
          </a:p>
        </p:txBody>
      </p:sp>
      <p:pic>
        <p:nvPicPr>
          <p:cNvPr id="4" name="Picture 8" descr="Text&#10;&#10;Description automatically generated">
            <a:extLst>
              <a:ext uri="{FF2B5EF4-FFF2-40B4-BE49-F238E27FC236}">
                <a16:creationId xmlns:a16="http://schemas.microsoft.com/office/drawing/2014/main" id="{EBBB1AC4-5171-B254-4AF7-3A7CEEE8638C}"/>
              </a:ext>
            </a:extLst>
          </p:cNvPr>
          <p:cNvPicPr>
            <a:picLocks noChangeAspect="1"/>
          </p:cNvPicPr>
          <p:nvPr/>
        </p:nvPicPr>
        <p:blipFill>
          <a:blip r:embed="rId2"/>
          <a:stretch>
            <a:fillRect/>
          </a:stretch>
        </p:blipFill>
        <p:spPr>
          <a:xfrm>
            <a:off x="2702170" y="4927598"/>
            <a:ext cx="3733799" cy="1856158"/>
          </a:xfrm>
          <a:prstGeom prst="rect">
            <a:avLst/>
          </a:prstGeom>
        </p:spPr>
      </p:pic>
    </p:spTree>
    <p:extLst>
      <p:ext uri="{BB962C8B-B14F-4D97-AF65-F5344CB8AC3E}">
        <p14:creationId xmlns:p14="http://schemas.microsoft.com/office/powerpoint/2010/main" val="3558691289"/>
      </p:ext>
    </p:extLst>
  </p:cSld>
  <p:clrMapOvr>
    <a:masterClrMapping/>
  </p:clrMapOvr>
  <p:transition spd="med">
    <p:fade thruBlk="1"/>
  </p:transition>
</p:sld>
</file>

<file path=ppt/theme/theme1.xml><?xml version="1.0" encoding="utf-8"?>
<a:theme xmlns:a="http://schemas.openxmlformats.org/drawingml/2006/main" name="NPS Them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D4FCAB7-422A-B24A-8908-C6B3DF0CD855}">
  <we:reference id="4b785c87-866c-4bad-85d8-5d1ae467ac9a" version="3.5.0.0" store="EXCatalog" storeType="EXCatalog"/>
  <we:alternateReferences>
    <we:reference id="WA104381909" version="3.5.0.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536</Words>
  <Application>Microsoft Office PowerPoint</Application>
  <PresentationFormat>On-screen Show (4:3)</PresentationFormat>
  <Paragraphs>50</Paragraphs>
  <Slides>11</Slides>
  <Notes>8</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NPS Theme</vt:lpstr>
      <vt:lpstr>HAST-E Housing Area Search Tool - Expeditionary  </vt:lpstr>
      <vt:lpstr>Problem Statement</vt:lpstr>
      <vt:lpstr>Objective</vt:lpstr>
      <vt:lpstr>Intro Demo</vt:lpstr>
      <vt:lpstr>Analytical Methods Used</vt:lpstr>
      <vt:lpstr>Data Sources</vt:lpstr>
      <vt:lpstr>Code Review</vt:lpstr>
      <vt:lpstr>Recommendations Future Research</vt:lpstr>
      <vt:lpstr>PowerPoint Presentation</vt:lpstr>
      <vt:lpstr>Backup – Affordability Score Formulation</vt:lpstr>
      <vt:lpstr>Backup – Crime Index Formulation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Title  </dc:title>
  <dc:creator/>
  <cp:lastModifiedBy/>
  <cp:revision>1031</cp:revision>
  <dcterms:created xsi:type="dcterms:W3CDTF">2012-08-24T00:53:15Z</dcterms:created>
  <dcterms:modified xsi:type="dcterms:W3CDTF">2023-03-08T20:44:12Z</dcterms:modified>
</cp:coreProperties>
</file>